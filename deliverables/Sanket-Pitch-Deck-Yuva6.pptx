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9A961"/>
                </a:solidFill>
              </a:defRPr>
            </a:pPr>
            <a:r>
              <a:t>Y U V A  6 . 0  —  I N T E R - U N I V E R S I T Y  R O U N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A961"/>
                </a:solidFill>
              </a:defRPr>
            </a:pPr>
            <a:r>
              <a:t>PROBLEM STATEMENT :  I N D I A N   S I G N   L A N G U A G E   F O R   A L L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0" y="1463040"/>
            <a:ext cx="265176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800" b="1">
                <a:solidFill>
                  <a:srgbClr val="FFFFFF"/>
                </a:solidFill>
              </a:defRPr>
            </a:pPr>
            <a:r>
              <a:t>SANKET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9A961"/>
                </a:solidFill>
              </a:defRPr>
            </a:pPr>
            <a:r>
              <a:t>Indian Sign Language for Sarkari Clerks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49039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0D0D0"/>
                </a:solidFill>
              </a:defRPr>
            </a:pPr>
            <a:r>
              <a:t>"From 30 days of training to 30 seconds of service."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297680"/>
            <a:ext cx="265176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4572000"/>
            <a:ext cx="12191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TEAM BEYOND WORDS  ·  KPGU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93776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9A961"/>
                </a:solidFill>
              </a:defRPr>
            </a:pPr>
            <a:r>
              <a:t>Sector : Public Services   |   Audience : Government (B2G)   |   Track : Accessibility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5440680"/>
            <a:ext cx="1463040" cy="320040"/>
          </a:xfrm>
          <a:prstGeom prst="roundRect">
            <a:avLst/>
          </a:prstGeom>
          <a:solidFill>
            <a:srgbClr val="121C2E"/>
          </a:solidFill>
          <a:ln w="10160">
            <a:solidFill>
              <a:srgbClr val="C9A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C9A961"/>
                </a:solidFill>
              </a:defRPr>
            </a:pPr>
            <a:r>
              <a:t>34 ISL Signs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5440680"/>
            <a:ext cx="1463040" cy="320040"/>
          </a:xfrm>
          <a:prstGeom prst="roundRect">
            <a:avLst/>
          </a:prstGeom>
          <a:solidFill>
            <a:srgbClr val="121C2E"/>
          </a:solidFill>
          <a:ln w="10160">
            <a:solidFill>
              <a:srgbClr val="C9A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C9A961"/>
                </a:solidFill>
              </a:defRPr>
            </a:pPr>
            <a:r>
              <a:t>Live Demo Ready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5440680"/>
            <a:ext cx="1463040" cy="320040"/>
          </a:xfrm>
          <a:prstGeom prst="roundRect">
            <a:avLst/>
          </a:prstGeom>
          <a:solidFill>
            <a:srgbClr val="121C2E"/>
          </a:solidFill>
          <a:ln w="10160">
            <a:solidFill>
              <a:srgbClr val="C9A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C9A961"/>
                </a:solidFill>
              </a:defRPr>
            </a:pPr>
            <a:r>
              <a:t>WebRTC Relay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9A961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66928"/>
            <a:ext cx="137160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The silence at the sarkari counter.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6AA"/>
                </a:solidFill>
              </a:defRPr>
            </a:pPr>
            <a:r>
              <a:t>18 million deaf citizens. 3.5 million clerks. Zero shared language.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1371600"/>
          </a:xfrm>
          <a:prstGeom prst="roundRect">
            <a:avLst/>
          </a:prstGeom>
          <a:solidFill>
            <a:srgbClr val="121C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defRPr sz="3200" b="1">
                <a:solidFill>
                  <a:srgbClr val="C9A961"/>
                </a:solidFill>
              </a:defRPr>
            </a:pPr>
            <a:r>
              <a:t>18M</a:t>
            </a:r>
          </a:p>
          <a:p>
            <a:pPr algn="ctr">
              <a:defRPr sz="900">
                <a:solidFill>
                  <a:srgbClr val="8896AA"/>
                </a:solidFill>
              </a:defRPr>
            </a:pPr>
            <a:r>
              <a:t>Deaf &amp; hard-of-hearing</a:t>
            </a:r>
            <a:br/>
            <a:r>
              <a:t>citizens in India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468880" cy="1371600"/>
          </a:xfrm>
          <a:prstGeom prst="roundRect">
            <a:avLst/>
          </a:prstGeom>
          <a:solidFill>
            <a:srgbClr val="121C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defRPr sz="3200" b="1">
                <a:solidFill>
                  <a:srgbClr val="C9A961"/>
                </a:solidFill>
              </a:defRPr>
            </a:pPr>
            <a:r>
              <a:t>3.5M</a:t>
            </a:r>
          </a:p>
          <a:p>
            <a:pPr algn="ctr">
              <a:defRPr sz="900">
                <a:solidFill>
                  <a:srgbClr val="8896AA"/>
                </a:solidFill>
              </a:defRPr>
            </a:pPr>
            <a:r>
              <a:t>Government clerks in</a:t>
            </a:r>
            <a:br/>
            <a:r>
              <a:t>municipal offices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1371600"/>
          </a:xfrm>
          <a:prstGeom prst="roundRect">
            <a:avLst/>
          </a:prstGeom>
          <a:solidFill>
            <a:srgbClr val="121C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defRPr sz="3200" b="1">
                <a:solidFill>
                  <a:srgbClr val="F87171"/>
                </a:solidFill>
              </a:defRPr>
            </a:pPr>
            <a:r>
              <a:t>&lt; 5%</a:t>
            </a:r>
          </a:p>
          <a:p>
            <a:pPr algn="ctr">
              <a:defRPr sz="900">
                <a:solidFill>
                  <a:srgbClr val="8896AA"/>
                </a:solidFill>
              </a:defRPr>
            </a:pPr>
            <a:r>
              <a:t>Have basic</a:t>
            </a:r>
            <a:br/>
            <a:r>
              <a:t>ISL proficiency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828800"/>
            <a:ext cx="2468880" cy="1371600"/>
          </a:xfrm>
          <a:prstGeom prst="roundRect">
            <a:avLst/>
          </a:prstGeom>
          <a:solidFill>
            <a:srgbClr val="121C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defRPr sz="3200" b="1">
                <a:solidFill>
                  <a:srgbClr val="F87171"/>
                </a:solidFill>
              </a:defRPr>
            </a:pPr>
            <a:r>
              <a:t>0</a:t>
            </a:r>
          </a:p>
          <a:p>
            <a:pPr algn="ctr">
              <a:defRPr sz="900">
                <a:solidFill>
                  <a:srgbClr val="8896AA"/>
                </a:solidFill>
              </a:defRPr>
            </a:pPr>
            <a:r>
              <a:t>Tools built for</a:t>
            </a:r>
            <a:br/>
            <a:r>
              <a:t>the counter itself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5212080" cy="2560320"/>
          </a:xfrm>
          <a:prstGeom prst="roundRect">
            <a:avLst/>
          </a:prstGeom>
          <a:solidFill>
            <a:srgbClr val="121C2E"/>
          </a:solidFill>
          <a:ln w="1524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B923C"/>
                </a:solidFill>
              </a:defRPr>
            </a:pPr>
            <a:r>
              <a:t>ROOT CAUSE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ISL lessons exist off the counter —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apps, courses, video libraries.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Clerks never see them because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the need is only visible AT the counter.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No tool is installed where service happens.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566160"/>
            <a:ext cx="5212080" cy="2560320"/>
          </a:xfrm>
          <a:prstGeom prst="roundRect">
            <a:avLst/>
          </a:prstGeom>
          <a:solidFill>
            <a:srgbClr val="121C2E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87171"/>
                </a:solidFill>
              </a:defRPr>
            </a:pPr>
            <a:r>
              <a:t>CONSEQUENCE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Deaf citizens rely on written notes,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family interpreters, or simply leave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without service.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No accountability. No recourse. No data.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RPwD Act 2016 mandates accessibility.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9A961"/>
                </a:solidFill>
              </a:defRPr>
            </a:pPr>
            <a: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66928"/>
            <a:ext cx="137160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One platform. Service, habit,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6AA"/>
                </a:solidFill>
              </a:defRPr>
            </a:pPr>
            <a:r>
              <a:t>Three products. One counter. 30 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20624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4ADE80"/>
                </a:solidFill>
              </a:defRPr>
            </a:pPr>
            <a:r>
              <a:t>1  ·  MOMENT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Sanket Sahayak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Two-way service turn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at the counter.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App speaks first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Citizen signs (camera)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Clerk taps reply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ISL chips + TTS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30 seconds.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That is the moment.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20624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818CF8"/>
                </a:solidFill>
              </a:defRPr>
            </a:pPr>
            <a:r>
              <a:t>2  ·  HABIT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ISL Quest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3-minute gamified lessons.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XP. Streaks. Badges.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Daily lesson on desk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Webcam practice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34 municipal signs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Spaced repetition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The unit is 3 minutes,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not a course.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20624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B923C"/>
                </a:solidFill>
              </a:defRPr>
            </a:pPr>
            <a:r>
              <a:t>3  ·  SCORE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Sugamya Score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Departmental compliance.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Real data. Not aspirational.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45% Compliance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30% Citizen Satisfaction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15% Participation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10% Human Safety Net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Rewards honesty,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not just completion.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9A961"/>
                </a:solidFill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66928"/>
            <a:ext cx="137160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Boring, reliable technology.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6AA"/>
                </a:solidFill>
              </a:defRPr>
            </a:pPr>
            <a:r>
              <a:t>Next.js 14  +  MongoDB Atlas  +  MediaPipe  +  kNN  +  Vercel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920240" cy="82296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📷 MediaPipe</a:t>
            </a:r>
            <a:br/>
            <a:r>
              <a:t>21 landmarks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7480" y="2103120"/>
            <a:ext cx="182880" cy="228600"/>
          </a:xfrm>
          <a:prstGeom prst="rightArrow">
            <a:avLst/>
          </a:prstGeom>
          <a:solidFill>
            <a:srgbClr val="505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26080" y="1828800"/>
            <a:ext cx="1920240" cy="82296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🧠 kNN</a:t>
            </a:r>
            <a:br/>
            <a:r>
              <a:t>k=3, conf≥0.45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92040" y="2103120"/>
            <a:ext cx="182880" cy="228600"/>
          </a:xfrm>
          <a:prstGeom prst="rightArrow">
            <a:avLst/>
          </a:prstGeom>
          <a:solidFill>
            <a:srgbClr val="505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828800"/>
            <a:ext cx="1920240" cy="82296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💬 Clerk UI</a:t>
            </a:r>
            <a:br/>
            <a:r>
              <a:t>React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86599" y="2103120"/>
            <a:ext cx="182880" cy="228600"/>
          </a:xfrm>
          <a:prstGeom prst="rightArrow">
            <a:avLst/>
          </a:prstGeom>
          <a:solidFill>
            <a:srgbClr val="505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9" y="1828800"/>
            <a:ext cx="1920240" cy="82296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🔄 API</a:t>
            </a:r>
            <a:br/>
            <a:r>
              <a:t>Serverless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81160" y="2103120"/>
            <a:ext cx="182880" cy="228600"/>
          </a:xfrm>
          <a:prstGeom prst="rightArrow">
            <a:avLst/>
          </a:prstGeom>
          <a:solidFill>
            <a:srgbClr val="505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09760" y="1828800"/>
            <a:ext cx="1920240" cy="82296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🗄️ MongoDB</a:t>
            </a:r>
            <a:br/>
            <a:r>
              <a:t>Atlas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17520"/>
            <a:ext cx="3291840" cy="16459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9A961"/>
                </a:solidFill>
              </a:defRPr>
            </a:pPr>
            <a:r>
              <a:t>FRONTEND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Next.js 14 · Tailwind CSS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PWA · Dark mode · EN / HI / MR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Recharts · jsPDF · ServiceWorker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017520"/>
            <a:ext cx="3291840" cy="16459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B923C"/>
                </a:solidFill>
              </a:defRPr>
            </a:pPr>
            <a:r>
              <a:t>RECOGNITION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Euclidean kNN over 21 landmarks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Wrist-relative normalization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15-frame temporal smoothing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On-device — no server round-trip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017520"/>
            <a:ext cx="3566160" cy="16459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4ADE80"/>
                </a:solidFill>
              </a:defRPr>
            </a:pPr>
            <a:r>
              <a:t>ESCALATION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Low-confidence → Call interpreter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WebSocket relay · text + ISL chips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WebRTC video (Phase 2)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Every relay logged →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029200"/>
            <a:ext cx="10698480" cy="9144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100" b="1">
                <a:solidFill>
                  <a:srgbClr val="818CF8"/>
                </a:solidFill>
              </a:defRPr>
            </a:pPr>
            <a:r>
              <a:t>RESILIENT</a:t>
            </a:r>
          </a:p>
          <a:p>
            <a:pPr>
              <a:defRPr sz="1100">
                <a:solidFill>
                  <a:srgbClr val="D0D0D0"/>
                </a:solidFill>
              </a:defRPr>
            </a:pPr>
            <a:r>
              <a:t>Fail-fast DB (2s timeout) → mock fallback. Demo cannot crash. On-device ML → no internet dependency.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9A961"/>
                </a:solidFill>
              </a:defRPr>
            </a:pPr>
            <a:r>
              <a:t>POLICY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66928"/>
            <a:ext cx="137160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Inclusive by law, not by charity.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6AA"/>
                </a:solidFill>
              </a:defRPr>
            </a:pPr>
            <a:r>
              <a:t>Mandate ISL training for every public-facing clerk.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2743200"/>
          </a:xfrm>
          <a:prstGeom prst="roundRect">
            <a:avLst/>
          </a:prstGeom>
          <a:solidFill>
            <a:srgbClr val="121C2E"/>
          </a:solidFill>
          <a:ln w="15240">
            <a:solidFill>
              <a:srgbClr val="C9A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9A961"/>
                </a:solidFill>
              </a:defRPr>
            </a:pPr>
            <a:r>
              <a:t>THE RECOMMENDATION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Make ISL proficiency a mandatory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annual requirement for all municipal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public-facing staff.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Delivered through a digital platform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with real-time compliance tracking.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Enforce via RPwD Act 2016 +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Sugamya Bharat Abhiyan.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212080" cy="27432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B923C"/>
                </a:solidFill>
              </a:defRPr>
            </a:pPr>
            <a:r>
              <a:t>MEASURABLE KPIs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Daily Active Learners         &gt; 70%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30-day Streak                 &gt; 50%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Curriculum Completion         &gt; 40%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Citizen Satisfaction          &gt; 4.0 / 5.0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QR Scan Volume                1 / clerk / week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ISL Champions                 10% of enrolled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789920" cy="1280160"/>
          </a:xfrm>
          <a:prstGeom prst="roundRect">
            <a:avLst/>
          </a:prstGeom>
          <a:solidFill>
            <a:srgbClr val="121C2E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ADE80"/>
                </a:solidFill>
              </a:defRPr>
            </a:pPr>
            <a:r>
              <a:t>COST BREAKDOWN  —  ₹2,50,000 / year per municipality (500 clerks)</a:t>
            </a:r>
          </a:p>
          <a:p>
            <a:pPr>
              <a:spcAft>
                <a:spcPts val="200"/>
              </a:spcAft>
              <a:defRPr sz="1000">
                <a:solidFill>
                  <a:srgbClr val="D0D0D0"/>
                </a:solidFill>
              </a:defRPr>
            </a:pPr>
            <a:r>
              <a:t>Platform license (500 accounts)     ₹1,80,000     |     Curriculum + relay + dashboard     Included     |     Support     ₹70,000</a:t>
            </a:r>
          </a:p>
          <a:p>
            <a:pPr>
              <a:spcAft>
                <a:spcPts val="200"/>
              </a:spcAft>
              <a:defRPr sz="1000">
                <a:solidFill>
                  <a:srgbClr val="D0D0D0"/>
                </a:solidFill>
              </a:defRPr>
            </a:pPr>
            <a:r>
              <a:t>Per clerk per year     ₹500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9A961"/>
                </a:solidFill>
              </a:defRPr>
            </a:pPr>
            <a:r>
              <a:t>FEASIBILITY &amp;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66928"/>
            <a:ext cx="137160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Already built. Already working.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6AA"/>
                </a:solidFill>
              </a:defRPr>
            </a:pPr>
            <a:r>
              <a:t>Not a concept — a fully functional application deployed on Vercel.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384048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4ADE80"/>
                </a:solidFill>
              </a:defRPr>
            </a:pPr>
            <a:r>
              <a:t>WHAT'S READY NOW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Next.js 14 app — 34 ISL signs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Live webcam tracking (MediaPipe)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kNN classifier — trainable per user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Human interpreter relay (simulated)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Gamification (XP, streaks, badges)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Admin dashboard + real analytics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Citizen QR feedback loop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Auth (JWT + bcrypt)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Mock DB fallback — zero crash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✓  PWA offline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212080" cy="146304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818CF8"/>
                </a:solidFill>
              </a:defRPr>
            </a:pPr>
            <a:r>
              <a:t>PILOT TIMELINE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Month 1 → Deploy in 1 municipality, 3 depts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Month 2 → Onboard 50–100 clerks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Month 3 → Measure DAL, iterate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474720"/>
            <a:ext cx="5212080" cy="1097280"/>
          </a:xfrm>
          <a:prstGeom prst="roundRect">
            <a:avLst/>
          </a:prstGeom>
          <a:solidFill>
            <a:srgbClr val="121C2E"/>
          </a:solidFill>
          <a:ln w="1524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4B5FD"/>
                </a:solidFill>
              </a:defRPr>
            </a:pPr>
            <a:r>
              <a:t>FUTURE  ·  LIVE EMERGENCY INTERPRETER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Phase 2 → WebRTC video relay for low-confidence signs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When AI can't read → trained human joins live via video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754880"/>
            <a:ext cx="5212080" cy="9144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B923C"/>
                </a:solidFill>
              </a:defRPr>
            </a:pPr>
            <a:r>
              <a:t>TECHNICAL PROOF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Deploy Vercel · DB Atlas · ML on-device · Cost ₹500/clerk/yr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9A961"/>
                </a:solidFill>
              </a:defRPr>
            </a:pPr>
            <a:r>
              <a:t>SCALABILITY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66928"/>
            <a:ext cx="137160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One office to the 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6AA"/>
                </a:solidFill>
              </a:defRPr>
            </a:pPr>
            <a:r>
              <a:t>Prove assists, not installs.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011680" cy="27432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4ADE80"/>
                </a:solidFill>
              </a:defRPr>
            </a:pPr>
            <a:r>
              <a:t>PILOT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Months 1–3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1 municipality</a:t>
            </a:r>
            <a:br/>
            <a:r>
              <a:t>3 departments</a:t>
            </a:r>
            <a:br/>
            <a:r>
              <a:t>50–100 clerks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06040" y="2926080"/>
            <a:ext cx="182880" cy="228600"/>
          </a:xfrm>
          <a:prstGeom prst="rightArrow">
            <a:avLst/>
          </a:prstGeom>
          <a:solidFill>
            <a:srgbClr val="505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828800"/>
            <a:ext cx="2011680" cy="27432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818CF8"/>
                </a:solidFill>
              </a:defRPr>
            </a:pPr>
            <a:r>
              <a:t>CITY-WIDE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Months 4–6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All departments</a:t>
            </a:r>
            <a:br/>
            <a:r>
              <a:t>500+ clerks</a:t>
            </a:r>
            <a:br/>
            <a:r>
              <a:t>5–10 offices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92040" y="2926080"/>
            <a:ext cx="182880" cy="228600"/>
          </a:xfrm>
          <a:prstGeom prst="rightArrow">
            <a:avLst/>
          </a:prstGeom>
          <a:solidFill>
            <a:srgbClr val="505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828800"/>
            <a:ext cx="2011680" cy="27432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B923C"/>
                </a:solidFill>
              </a:defRPr>
            </a:pPr>
            <a:r>
              <a:t>REGIONAL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Months 7–12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5 Tier 2/3 cities</a:t>
            </a:r>
            <a:br/>
            <a:r>
              <a:t>5,000+ clerks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78040" y="2926080"/>
            <a:ext cx="182880" cy="228600"/>
          </a:xfrm>
          <a:prstGeom prst="rightArrow">
            <a:avLst/>
          </a:prstGeom>
          <a:solidFill>
            <a:srgbClr val="505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828800"/>
            <a:ext cx="2011680" cy="27432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9A961"/>
                </a:solidFill>
              </a:defRPr>
            </a:pPr>
            <a:r>
              <a:t>STATE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Year 2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Gujarat + Maharashtra</a:t>
            </a:r>
            <a:br/>
            <a:r>
              <a:t>25,000+ certified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64040" y="2926080"/>
            <a:ext cx="182880" cy="228600"/>
          </a:xfrm>
          <a:prstGeom prst="rightArrow">
            <a:avLst/>
          </a:prstGeom>
          <a:solidFill>
            <a:srgbClr val="505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828800"/>
            <a:ext cx="2011680" cy="27432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87171"/>
                </a:solidFill>
              </a:defRPr>
            </a:pPr>
            <a:r>
              <a:t>NATIONAL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Years 3–5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36 states &amp; UTs</a:t>
            </a:r>
            <a:br/>
            <a:r>
              <a:t>500,000+ trained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37760"/>
            <a:ext cx="10698480" cy="109728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spcAft>
                <a:spcPts val="400"/>
              </a:spcAft>
              <a:defRPr sz="1100" b="1">
                <a:solidFill>
                  <a:srgbClr val="C9A961"/>
                </a:solidFill>
              </a:defRPr>
            </a:pPr>
            <a:r>
              <a:t>KEY PARTNERS</a:t>
            </a:r>
          </a:p>
          <a:p>
            <a:pPr>
              <a:defRPr sz="1000">
                <a:solidFill>
                  <a:srgbClr val="D0D0D0"/>
                </a:solidFill>
              </a:defRPr>
            </a:pPr>
            <a:r>
              <a:t>GSRDM  ·  Maharashtra SRC  ·  DEPwD  ·  ISLRTC Certified  ·  ASHA-worker training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9A961"/>
                </a:solidFill>
              </a:defRPr>
            </a:pPr>
            <a:r>
              <a:t>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66928"/>
            <a:ext cx="137160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Everyone gains. Measurable at every level.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6AA"/>
                </a:solidFill>
              </a:defRPr>
            </a:pPr>
            <a:r>
              <a:t>Sanket creates tangible value for every stakeholder.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13716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818CF8"/>
                </a:solidFill>
              </a:defRPr>
            </a:pPr>
            <a:r>
              <a:t>🧏  DEAF CITIZEN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Walk in. Be understood. No notes. No waiting.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212080" cy="13716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4ADE80"/>
                </a:solidFill>
              </a:defRPr>
            </a:pPr>
            <a:r>
              <a:t>🧑‍💼  CLERK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30-sec service. 3-min habit. Champion badge.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5212080" cy="13716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B923C"/>
                </a:solidFill>
              </a:defRPr>
            </a:pPr>
            <a:r>
              <a:t>🏛️  MUNICIPALITY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Real-time compliance dashboard. Assisted citizen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474720"/>
            <a:ext cx="5212080" cy="137160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9A961"/>
                </a:solidFill>
              </a:defRPr>
            </a:pPr>
            <a:r>
              <a:t>🇮🇳  NATION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ISL-trained workforce at every counter. Inclusive governance.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5120640"/>
            <a:ext cx="8503920" cy="914400"/>
          </a:xfrm>
          <a:prstGeom prst="roundRect">
            <a:avLst/>
          </a:prstGeom>
          <a:solidFill>
            <a:srgbClr val="121C2E"/>
          </a:solidFill>
          <a:ln w="12700">
            <a:solidFill>
              <a:srgbClr val="C9A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18M deaf citizens  ×  3.5M government clerks  =  ONE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9A961"/>
                </a:solidFill>
              </a:defRPr>
            </a:pPr>
            <a:r>
              <a:t>WHAT'S DIFFERENT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566928"/>
            <a:ext cx="1371600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Built for the municipal counter, not the classroom.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6AA"/>
                </a:solidFill>
              </a:defRPr>
            </a:pPr>
            <a:r>
              <a:t>The first end-to-end ISL accessibility platform for Indian government clerks.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21031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818CF8"/>
                </a:solidFill>
              </a:defRPr>
            </a:pPr>
            <a:r>
              <a:t>DIFFERENT BY DESIGN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 Municipal vocabulary (Bill, Tax, Certificate)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 Clerk chat UI + ISL chips + TTS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 kNN — trainable per user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 Two-way: Sign → Text → ISL → Voice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212080" cy="21031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FB923C"/>
                </a:solidFill>
              </a:defRPr>
            </a:pPr>
            <a:r>
              <a:t>WHAT MAKES US UNIQUE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 Webcam + MediaPipe + kNN in-browser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 QR feedback loop for compliance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 Live human interpreter relay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→  Offline-first PWA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10789920" cy="1645920"/>
          </a:xfrm>
          <a:prstGeom prst="roundRect">
            <a:avLst/>
          </a:prstGeom>
          <a:solidFill>
            <a:srgbClr val="121C2E"/>
          </a:solidFill>
          <a:ln w="12700">
            <a:solidFill>
              <a:srgbClr val="C9A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500" i="1">
                <a:solidFill>
                  <a:srgbClr val="D0D0D0"/>
                </a:solidFill>
              </a:defRPr>
            </a:pPr>
            <a:r>
              <a:t>"Not just an ASL translator. Not just a learning app.</a:t>
            </a:r>
          </a:p>
          <a:p>
            <a:pPr algn="ctr">
              <a:defRPr sz="1500" i="1">
                <a:solidFill>
                  <a:srgbClr val="D0D0D0"/>
                </a:solidFill>
              </a:defRPr>
            </a:pPr>
            <a:r>
              <a:t>The first end-to-end ISL accessibility platform for Indian government clerks —</a:t>
            </a:r>
          </a:p>
          <a:p>
            <a:pPr algn="ctr">
              <a:defRPr sz="1500" i="1" b="1">
                <a:solidFill>
                  <a:srgbClr val="C9A961"/>
                </a:solidFill>
              </a:defRPr>
            </a:pPr>
            <a:r>
              <a:t>6 Lakh counters, where the counter IS the government."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A961"/>
                </a:solidFill>
              </a:defRPr>
            </a:pPr>
            <a:r>
              <a:t>T H A N K   Y O 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914400"/>
            <a:ext cx="2133295" cy="16459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18872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SANKET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6AA"/>
                </a:solidFill>
              </a:defRPr>
            </a:pPr>
            <a:r>
              <a:t>ISL for every sarkari counter.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3200400"/>
            <a:ext cx="1554480" cy="16459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9A961"/>
                </a:solidFill>
              </a:defRPr>
            </a:pPr>
            <a:r>
              <a:t>PJ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Pratiksha Jawale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Lead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200400"/>
            <a:ext cx="1554480" cy="16459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9A961"/>
                </a:solidFill>
              </a:defRPr>
            </a:pPr>
            <a:r>
              <a:t>RK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Rudra Khaire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Dev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3200400"/>
            <a:ext cx="1554480" cy="16459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9A961"/>
                </a:solidFill>
              </a:defRPr>
            </a:pPr>
            <a:r>
              <a:t>MP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Mahi Panchal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200400"/>
            <a:ext cx="1554480" cy="16459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9A961"/>
                </a:solidFill>
              </a:defRPr>
            </a:pPr>
            <a:r>
              <a:t>SP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Suhani Pawar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200400"/>
            <a:ext cx="1554480" cy="1645920"/>
          </a:xfrm>
          <a:prstGeom prst="roundRect">
            <a:avLst/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ctr">
              <a:spcAft>
                <a:spcPts val="500"/>
              </a:spcAft>
              <a:defRPr sz="1200" b="1">
                <a:solidFill>
                  <a:srgbClr val="C9A961"/>
                </a:solidFill>
              </a:defRPr>
            </a:pPr>
            <a:r>
              <a:t>SS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Sheena Sharma</a:t>
            </a:r>
          </a:p>
          <a:p>
            <a:pPr>
              <a:spcAft>
                <a:spcPts val="200"/>
              </a:spcAft>
              <a:defRPr sz="1100">
                <a:solidFill>
                  <a:srgbClr val="D0D0D0"/>
                </a:solidFill>
              </a:defRPr>
            </a:pPr>
            <a:r>
              <a:t>Dev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120640"/>
            <a:ext cx="12191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6AA"/>
                </a:solidFill>
              </a:defRPr>
            </a:pPr>
            <a:r>
              <a:t>Dr. Kiran &amp; Pallavi Patel Global University  ·  B.Tech CSE  ·  2nd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4864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9A961"/>
                </a:solidFill>
              </a:defRPr>
            </a:pPr>
            <a:r>
              <a:t>Yuva 6.0 — Inter-University Round  |  Live Demo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85216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sanket-isl.vercel.app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05E72"/>
                </a:solidFill>
              </a:defRPr>
            </a:pPr>
            <a:r>
              <a:t>SANKET  ·  ISL FOR SARKARI CLERKS  ·  BEYOND WORDS  ·  KPGU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