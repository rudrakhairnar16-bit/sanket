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96012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C9A961"/>
                </a:solidFill>
                <a:latin typeface="Calibri"/>
              </a:rPr>
              <a:t>Y   U   V   A     F   U   T   U   R   E     6   .   0     ·     C   I   T   Y   /   F   I   N   A   L     R   O   U   N   D     ·     T   R   A   C   K   :     A   C   C   E   S   S   I   B   I   L   I   T  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4630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PROBLEM STATEMENT: INDIAN SIGN LANGUAGE FOR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14884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800" b="1" i="0">
                <a:solidFill>
                  <a:srgbClr val="FFFFFF"/>
                </a:solidFill>
                <a:latin typeface="Georgia"/>
              </a:rPr>
              <a:t>SANKET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Indian Sign Language for Sarkari Clerks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29768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5262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“From 30 days of training to 30 seconds of service.”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257800"/>
            <a:ext cx="9784080" cy="10972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BEYOND WORDS  ·  YUVA CHAPTER · GUJARAT  ·  KPGU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76072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Rudra Khaire · Pratiksha Jawale · Mahi Panchal · Suhani Pawar · Sheena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P   R   O   B   L   E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The silence at the sarkari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1">
                <a:solidFill>
                  <a:srgbClr val="38414D"/>
                </a:solidFill>
                <a:latin typeface="Georgia"/>
              </a:rPr>
              <a:t>A deaf citizen walks into a municipal office. No clerk knows ISL. No interpreter is on duty. She waits. She leaves without her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5628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260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hearing-impaired Indians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7432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15968" y="45628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29260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&lt;300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6576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certified ISL interpreters — for 18M deaf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069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ISLRTC · NAD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7432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6136" y="45628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0456" y="29260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6576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deaf adults are employed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06908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Census 2011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37760"/>
            <a:ext cx="10634472" cy="1097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1389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98A2F"/>
                </a:solidFill>
                <a:latin typeface="Calibri"/>
              </a:rPr>
              <a:t>Root cause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5046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ISL is recognised by law — but never reaches the counter where service happens.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No accountability metric exists, so no department is measured or incentivised.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O   U   R       S   O   L   U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One platform. Service. Habit.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3383280" cy="32918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402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Sanket Sahayak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38414D"/>
                </a:solidFill>
                <a:latin typeface="Calibri"/>
              </a:rPr>
              <a:t>30-second two-way desk — citizen signs, clerk understands, clerk replies in ISL.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874519"/>
            <a:ext cx="3383280" cy="32918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1874519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21488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2402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ISL 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0175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38414D"/>
                </a:solidFill>
                <a:latin typeface="Calibri"/>
              </a:rPr>
              <a:t>3-minute daily lessons · 34 signs · streaks · badges · certificates.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4" y="1874519"/>
            <a:ext cx="3383280" cy="32918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64424" y="1874519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214884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2402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Admin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017520"/>
            <a:ext cx="2834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00" b="0" i="0">
                <a:solidFill>
                  <a:srgbClr val="38414D"/>
                </a:solidFill>
                <a:latin typeface="Calibri"/>
              </a:rPr>
              <a:t>Sugamya Score · leaderboards · QR citizen feedback · escalation logs.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634472" cy="6858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6875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The unit of value: a deaf citizen served at the counter in under 30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60236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 dirty="0">
                <a:solidFill>
                  <a:srgbClr val="0F1E38"/>
                </a:solidFill>
                <a:latin typeface="Georgia"/>
              </a:rPr>
              <a:t>Machine first. Human the moment confidence drops.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2468880" cy="2286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Georg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F1E38"/>
                </a:solidFill>
                <a:latin typeface="Georgia"/>
              </a:rPr>
              <a:t>CITIZEN SIGNS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38414D"/>
                </a:solidFill>
                <a:latin typeface="Calibri"/>
              </a:rPr>
              <a:t>MediaPipe reads 21 hand landmarks in-browser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0712" y="1828800"/>
            <a:ext cx="2468880" cy="2286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5603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F1E38"/>
                </a:solidFill>
                <a:latin typeface="Georgia"/>
              </a:rPr>
              <a:t>CLERK SEES + HEARS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246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38414D"/>
                </a:solidFill>
                <a:latin typeface="Calibri"/>
              </a:rPr>
              <a:t>Text and voice in EN / Hindi / Marathi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1828800"/>
            <a:ext cx="2468880" cy="2286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5603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F1E38"/>
                </a:solidFill>
                <a:latin typeface="Georgia"/>
              </a:rPr>
              <a:t>CLERK REPLIES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246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38414D"/>
                </a:solidFill>
                <a:latin typeface="Calibri"/>
              </a:rPr>
              <a:t>One tap → ISL symbol chips + TTS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0536" y="1828800"/>
            <a:ext cx="2468880" cy="22860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89136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5603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0F1E38"/>
                </a:solidFill>
                <a:latin typeface="Georgia"/>
              </a:rPr>
              <a:t>CITIZEN 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2461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38414D"/>
                </a:solidFill>
                <a:latin typeface="Calibri"/>
              </a:rPr>
              <a:t>Full turn in under 30 seconds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34840"/>
            <a:ext cx="10634472" cy="14173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663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9A961"/>
                </a:solidFill>
                <a:latin typeface="Calibri"/>
              </a:rPr>
              <a:t>THE ESCALATION — THE MOAT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Low confidence → one tap calls a live human interpreter over WebSocket (~1.6s).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Escalation is logged and rewarded — 10% of the Sugamya Score is “human safety net”.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O   L   I   C   Y       A   S  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One concrete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10634472" cy="21945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“ISL-Ready Counter” designation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C9A961"/>
                </a:solidFill>
                <a:latin typeface="Calibri"/>
              </a:rPr>
              <a:t>Require every public service office to train at least one clerk using an ISLRTC-sourced ISL curriculum, and report an annual Counter Accessibility Score — under the RPwD Act 2016.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389120"/>
            <a:ext cx="10634472" cy="566928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51713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ACTING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49884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DEPwD, Ministry of Social Justice &amp; Empowerment — with ISLRTC (content) and DoPT (training)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47488"/>
            <a:ext cx="10634472" cy="566928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175503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WHY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157216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ISL is recognised in law (Section 42 / IS 17802 cover digital — not counters)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705856"/>
            <a:ext cx="10634472" cy="566928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8338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HOW IT SCALES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815584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Compliance duty → adoption · reported score → accountability · one taluka → six lakh counters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F   E   A   S   I   B   I   L   I   T   Y       &amp;       P   L   A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Shipped this week. Pilot-ready in 90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35661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7D59"/>
                </a:solidFill>
                <a:latin typeface="Calibri"/>
              </a:rPr>
              <a:t>S   H   I   P   P   E  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30-second desk flow (Sanket Sahayak)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ISL Quest — 34 signs · streaks · badges · certificates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60-second webcam sign training (kNN)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Live human-interpreter relay (WebSocket)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Sugamya Score + admin dashboard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Deployed live: sanketsahayaks1.vercel.app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148072" cy="35661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9   0   -   D   A   Y     P   I   L   O  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87168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1 taluka office · 1 talati · 2 clerks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Live at the counter from day 1 — no waiting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Metric: assisted citizens, not sign-ups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Cost: ≈ ₹1.0–1.5 lakh, no new hardware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Runs in Chrome on existing office PCs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·  Partners: ISLRTC · municipality · deaf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577840"/>
            <a:ext cx="10634472" cy="54864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68756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Offline-first PWA + mock fallback — the service cannot crash.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S   C   A   L   A   B   I   L   I   T   Y       R   O   A   D   M   A  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Pilot → City → State → 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2468880" cy="301752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C9A961"/>
                </a:solidFill>
                <a:latin typeface="Georgia"/>
              </a:rPr>
              <a:t>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011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1 taluka office · assisted-citizen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089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2011680"/>
            <a:ext cx="2468880" cy="301752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9312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C9A961"/>
                </a:solidFill>
                <a:latin typeface="Georgia"/>
              </a:rPr>
              <a:t>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6–12 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246120"/>
            <a:ext cx="2011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Municipality-wide · train-the-trainer champions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1089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2011680"/>
            <a:ext cx="2468880" cy="301752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C9A961"/>
                </a:solidFill>
                <a:latin typeface="Georgia"/>
              </a:rPr>
              <a:t>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12–24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246120"/>
            <a:ext cx="2011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District rollouts · adoption heatmaps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31089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98A2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2011680"/>
            <a:ext cx="2468880" cy="301752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89136" y="22860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C9A961"/>
                </a:solidFill>
                <a:latin typeface="Georgia"/>
              </a:rPr>
              <a:t>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788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LONG TERM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3246120"/>
            <a:ext cx="2011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6 lakh counters · SMS-first rural reach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349240"/>
            <a:ext cx="10634472" cy="777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5595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 i="1">
                <a:solidFill>
                  <a:srgbClr val="0F1E38"/>
                </a:solidFill>
                <a:latin typeface="Georgia"/>
              </a:rPr>
              <a:t>Every phase is measured the same way: assisted citizens per counter per month — not sign-ups.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I   M   P   A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Who benefits — and by how much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648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hearing-impaired Indians gain access to civic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54679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25112" y="3648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20116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10.5M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743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government employees gain an ISL capability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154679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Central +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4424" y="1828800"/>
            <a:ext cx="3383280" cy="1874519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64424" y="3648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20116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2E7D59"/>
                </a:solidFill>
                <a:latin typeface="Georgia"/>
              </a:rPr>
              <a:t>50–100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assisted citizens in 90 days at the pilot office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154679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Measurable, logged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69080"/>
            <a:ext cx="1063447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KPIs we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·  Assisted citizens per counter / month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·  Escalations handled — and resolved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·  Clerks completing the 3-minute daily streak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709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·  Sugamya Score per department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·  Citizen satisfaction via QR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1">
                <a:solidFill>
                  <a:srgbClr val="0F1E38"/>
                </a:solidFill>
                <a:latin typeface="Georgia"/>
              </a:rPr>
              <a:t>Impact is verifiable, not aspirational — every assist, escalation and feedback response is logged.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W   H   A   T   '   S       D   I   F   F   E   R   E   N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795528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0F1E38"/>
                </a:solidFill>
                <a:latin typeface="Georgia"/>
              </a:rPr>
              <a:t>One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72768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BEYOND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20240"/>
            <a:ext cx="1063447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1">
                <a:solidFill>
                  <a:srgbClr val="FFFFFF"/>
                </a:solidFill>
                <a:latin typeface="Georgia"/>
              </a:rPr>
              <a:t>“They recognize a sign. We route a citizen — machine first, human clerk the moment confidence drops.”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51480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Routing, not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159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Human-in-the-loop escalation is logged and rewarded — not a dead 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749039"/>
            <a:ext cx="51480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8862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Desk-first, not phone-first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159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Installed where service happens, on hardware the government already owns.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983479"/>
            <a:ext cx="51480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Governance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50407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Sugamya Score turns machine failure into a trainable, reportable number.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983479"/>
            <a:ext cx="51480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51206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Certified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550407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Built on ISLRTC's 10,000-term national dictionary — not a private vocabulary.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Georgia"/>
              </a:rPr>
              <a:t>धन्यवाद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1">
                <a:solidFill>
                  <a:srgbClr val="C9A961"/>
                </a:solidFill>
                <a:latin typeface="Georgia"/>
              </a:rPr>
              <a:t>Thank you · Questions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9A961"/>
                </a:solidFill>
                <a:latin typeface="Calibri"/>
              </a:rPr>
              <a:t>LIVE DEMO  ·  https://sanketsahayaks1.vercel.app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Georgia"/>
              </a:rPr>
              <a:t>“Sanket — where every sign gets a signal.”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749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BEYOND WORDS  ·  KPGU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Rudra Khaire · Pratiksha Jawale · Mahi Panchal · Suhani Pawar · Sheena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1060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Ronit Mograni</cp:lastModifiedBy>
  <cp:revision>3</cp:revision>
  <dcterms:created xsi:type="dcterms:W3CDTF">2013-01-27T09:14:16Z</dcterms:created>
  <dcterms:modified xsi:type="dcterms:W3CDTF">2026-08-16T09:58:43Z</dcterms:modified>
  <cp:category/>
</cp:coreProperties>
</file>