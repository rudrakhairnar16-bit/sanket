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C9A961"/>
                </a:solidFill>
                <a:latin typeface="Calibri"/>
              </a:rPr>
              <a:t>Y   U   V   A     6   .   0     ·     I   N   T   E   R   -   U   N   I   V   E   R   S   I   T   Y     R   O   U   N   D     ·     P   U   B   L   I   C     S   E   R   V   I   C   E  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PROBLEM STATEMENT: INDIAN SIGN LANGUAGE FOR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3172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0" b="1" i="0">
                <a:solidFill>
                  <a:srgbClr val="FFFFFF"/>
                </a:solidFill>
                <a:latin typeface="Georgia"/>
              </a:rPr>
              <a:t>SANKET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Indian Sign Language for Sarkari Clerks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FFFFFF"/>
                </a:solidFill>
                <a:latin typeface="Georgia"/>
              </a:rPr>
              <a:t>“From 30 days of training to 30 seconds of service.”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486400"/>
            <a:ext cx="9784080" cy="10972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KPGU  ·  KPGU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436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9A961"/>
                </a:solidFill>
                <a:latin typeface="Calibri"/>
              </a:rPr>
              <a:t>Sector: Public Services  ·  Audience: Government (Sarkari) Clerks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R   O   B   L   E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silence at the sarkari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1">
                <a:solidFill>
                  <a:srgbClr val="38414D"/>
                </a:solidFill>
                <a:latin typeface="Georgia"/>
              </a:rPr>
              <a:t>A deaf citizen walks into a municipal office. No clerk knows Indian Sign Language. No interpreter is on duty. She waits. She leaves without her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63M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Indians with significant hearing impairment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WHO (2001 estimates, still cited 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deaf children are in school at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Deafness in India — national estimates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6136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working-age deaf adults are employed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Census 2011 — 73.9% are marginal workers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166360"/>
            <a:ext cx="10634472" cy="960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1">
                <a:solidFill>
                  <a:srgbClr val="0F1E38"/>
                </a:solidFill>
                <a:latin typeface="Georgia"/>
              </a:rPr>
              <a:t>The Rights of Persons with Disabilities Act, 2016 recognises ISL as a language of instruction — yet at the counter where government meets citizens, integration is effectively zero.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WHO deafness estimates · Census of India 2011 · National Association of the Deaf · RPwD Act, 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F   R   O   N   T       L   I   N 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Ten million public servants, one untrained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3.2M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Central Government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Annual Report on Pay &amp; Allowances, MoF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7.3M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State Government 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State employment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6136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≈0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offices with an ISL-ready clerk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No national ISL provision at municipal desks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77639"/>
            <a:ext cx="10634472" cy="20116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Why the municipal counter?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The counter is the highest-traffic interface between government and deaf citizens.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School ASL vocabulary does not cover “water bill”, “certificate”, or “complaint”.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Paper-and-sign communication is slow, awkward, and privacy-breaking.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179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Ministry of Finance · Union Government employees statistics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P   R   O   D   U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Service in thirty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Webcam reads the sign, or a demo sign is tapped.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sees and hears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Text plus voice, in English, Hindi or Marathi.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6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replies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One tap renders the reply as ISL symbol chips.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7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7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7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is 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full turn completes in under 30 seconds.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4924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55955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SANKET SAHAYAK — service at the desk. That moment, live, is the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S   O   L   U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platform. Service, habit,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Sanket Sahayak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S E R V I C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two-way desk: the citizen signs, the clerk understands, the clerk replies in ISL. A human interpreter is one tap away.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ISL 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H A B I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three-minute daily lesson, streaks, badges and webcam practice — 34 signs across 6 categories, with spaced repetition.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Admin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G O V E R N A N C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The Sugamya Score, department leaderboards and QR citizen feedback prove the service actually happened.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089904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One product serves the citizen, builds the habit, and proves the outcome to the department.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L   I   V   E       D   E   M  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Watch the moment, not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Open Sanket Sahayak — the app greets: “Namaste, I am Sanket Sahayak.”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15768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378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825496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citizen signs “Water” (webcam or demo tap) — the clerk desk receives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57015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1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6674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clerk replies in one tap — ISL chips and voice reach the citizen.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98264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507992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Finish — “You helped a citizen today. +25 XP.” Service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148072" cy="30175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THE MOAT —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4617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Sign with low confidence → tap “Call interpreter”.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A live human clerk joins within ~1.6 seconds.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The interpreter’s message lands in the chat.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End relay → “Escalation handled by a human” — logged.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74920"/>
            <a:ext cx="5148072" cy="914400"/>
          </a:xfrm>
          <a:prstGeom prst="rect">
            <a:avLst/>
          </a:prstGeom>
          <a:solidFill>
            <a:srgbClr val="F2EFE7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28523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0F1E38"/>
                </a:solidFill>
                <a:latin typeface="Georgia"/>
              </a:rPr>
              <a:t>“Other teams built a recognizer. We built the routing.”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M   O   A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Recognition is table stakes. Routing is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2103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7A8494"/>
                </a:solidFill>
                <a:latin typeface="Georgia"/>
              </a:rPr>
              <a:t>What others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Camera sees a sign → screen shows text. It ends there.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The service dies the moment the model is wrong.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21031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What Sanket builds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Machine first → confidence drops → one tap calls a live human clerk.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Escalation is logged and counted — the department trains against real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6240"/>
            <a:ext cx="106344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1">
                <a:solidFill>
                  <a:srgbClr val="0F1E38"/>
                </a:solidFill>
                <a:latin typeface="Georgia"/>
              </a:rPr>
              <a:t>We shipped a demo-grade recognizer on purpose — it is in our README. The moat is the certified content and the human escalation path, not the recognizer.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B98A2F"/>
                </a:solidFill>
                <a:latin typeface="Calibri"/>
              </a:rPr>
              <a:t>—  Escalation is a feature:  </a:t>
            </a:r>
            <a:r>
              <a:rPr sz="1300">
                <a:solidFill>
                  <a:srgbClr val="38414D"/>
                </a:solidFill>
                <a:latin typeface="Calibri"/>
              </a:rPr>
              <a:t>10% of the Sugamya Score rewards “escalations handled” — the score rewards honesty.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B98A2F"/>
                </a:solidFill>
                <a:latin typeface="Calibri"/>
              </a:rPr>
              <a:t>—  Closed loop:  </a:t>
            </a:r>
            <a:r>
              <a:rPr sz="1300">
                <a:solidFill>
                  <a:srgbClr val="38414D"/>
                </a:solidFill>
                <a:latin typeface="Calibri"/>
              </a:rPr>
              <a:t>every escalation is logged, visible in the admin dashboard, counted in the department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H   O   W       I   T       W   O   R   K  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Boring, reliable technology — on a five-minute demo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Next.js 14 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Type-safe, zero-config deploy on Vercel.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MediaPipe webcam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21 hand landmarks, fully in-browser — no ML server.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kNN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 clerk trains their own signs in 60 seconds; the model is a JSON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Real learner and leaderboard data in the cloud.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Socket.io 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Live human-interpreter matching over WebSocket.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64424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PWA · mock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Offline-first — the demo cannot crash, by design.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099048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 new hardware: it runs in Chrome on existing office PCs. A free-tier stack keeps the pilot at one laptop and one weekend.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I   S   L       S   T   A   N   D   A   R   D   I   Z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We do not fight ISL’s diversity — we standardize the counter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10634472" cy="7772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34 signs across 6 categories cover the highest-frequency requests at any municipal counter.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Greetings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Emergency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Daily Life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ISLRTC — the autonomous national institute under DEPwD, Ministry of Social Justice &amp; Empowerment.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095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ESTABLISHED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3095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28 September 2015 · ISL Dictionary launched 2018 · ISLRTC–NCERT MoU 2020.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5274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BEYOND THE HANDSHAPE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952744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Icons, text and TTS sit beside every sign — the citizen is never blocked on one gesture.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Source: islrtc.nic.in — Government of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C   U   R   R   I   C   U   L   U   M       &amp;       A   D   O   P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unit of engagement is three minutes, not a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D A I L Y   L O O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3-minute lesson — one video, one MCQ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5 modules: Thank You · Please Wait · Sign Here · Water Bill · Submit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Spaced repetition resurfaces weak answers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I N C E N T I V E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Streaks and XP — +25 per assist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Department-vs-department leaderboards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PDF certificates at 7 / 14 / 21 / 30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O U T C O M E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Admin dashboards track adoption per department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QR citizen feedback: training → real impact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Metric shifts to on-ground usage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48640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69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1">
                <a:solidFill>
                  <a:srgbClr val="FFFFFF"/>
                </a:solidFill>
                <a:latin typeface="Georgia"/>
              </a:rPr>
              <a:t>A clerk who thinks a course is too long has no reason to skip a thirty-second assist on their own counter.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M   E   A   S   U   R   I   N   G       I   M   P   A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Sugamya Score — the score rewards honesty, not just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5544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E38"/>
                </a:solidFill>
                <a:latin typeface="Georgia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Training completed per 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73152" cy="155448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QR feedback from served citizens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11880"/>
            <a:ext cx="73152" cy="155448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2F52"/>
                </a:solidFill>
                <a:latin typeface="Georgia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Active clerks / enrolled clerks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611880"/>
            <a:ext cx="73152" cy="155448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E7D59"/>
                </a:solidFill>
                <a:latin typeface="Georgia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Human safety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Escalations handled — the machine admitted it wasn’t enough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32120"/>
            <a:ext cx="10634472" cy="7315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1">
                <a:solidFill>
                  <a:srgbClr val="0F1E38"/>
                </a:solidFill>
                <a:latin typeface="Georgia"/>
              </a:rPr>
              <a:t>Escalations appear live in the admin dashboard — the department sees machine failure as a number it can train against.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S   C   A   L   A   B   I   L   I   T  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office to the nation — prove assists, not installs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657600"/>
          </a:xfrm>
          <a:prstGeom prst="rect">
            <a:avLst/>
          </a:prstGeom>
          <a:solidFill>
            <a:srgbClr val="0F1E38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1   ·   P I L O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taluka office, one talati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Metric: assisted-citizen count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ISL-trained clerk becomes the local node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Escalations are the pilot’s learning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657600"/>
          </a:xfrm>
          <a:prstGeom prst="rect">
            <a:avLst/>
          </a:prstGeom>
          <a:solidFill>
            <a:srgbClr val="1B2F52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2   ·   S C A L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Circle → district → state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Train-the-trainer — the ASHA-worker model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Regional sign variants as module packs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No new hardware — existing office PCs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6576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P H A S E   3   ·   N A T I O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98A2F"/>
                </a:solidFill>
                <a:latin typeface="Calibri"/>
              </a:rPr>
              <a:t>LONG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Six lakh counters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District and state adoption heatmaps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Rural: SMS-first, panchayat champions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Cost per assist, not per licence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760720"/>
            <a:ext cx="10634472" cy="5486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metric for every phase: assisted citizens per counter per month. Not sign-ups.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O   L   I   C   Y       I   N   T   E   G   R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Inclusive by law, not by charity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73736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RPwD Act,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Expanded recognised disabilities from 7 to 21 and raised PwD reservation in government jobs from 3% to 4%. ISL is protected and promoted as a language — departments now carry a compliance duty.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173736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ISLRTC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Official content pipeline from the Ministry’s recognised institute, with attribution — national standard ISL, not an app’s private vocabulary.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7373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Deaf-community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Every production sign is reviewed by the community. Accessibility is built with, not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73152" cy="173736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SMS / WhatsApp nudge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Clerks respond to mobile alerts — offline reach for Tier 2/3 and rural offices. Twilio is the honest next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264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RPwD Act, 2016 (notified 28 December 2016) · DEPwD, Ministry of Social Justice &amp; Empowerment · India ratified UNCRPD October 2007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R   O   A   D   M   A  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Shipped this week. What comes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7D59"/>
                </a:solidFill>
                <a:latin typeface="Calibri"/>
              </a:rPr>
              <a:t>S   H   I   P   P   E   D     ·     T   H   I   S     W   E   E  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Sanket Sahayak — the 30-second desk flow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ISL Quest — 34 signs, streaks, badges, certificates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kNN webcam training in 60 seconds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Live human-interpreter relay over WebSocket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Sugamya Score with the human safety net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Deployed — live at sanketsahayaks1.vercel.app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39319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N   E   X   T     ·     3   0   –   9   0     D   A   Y  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Gesture-specific ML model — production grade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Real ISLRTC video clips in every lesson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WhatsApp / SMS nudge via Twilio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Mobile grid and app-store packaging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Regional sign-variant module packs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Pilot: one taluka office,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89320"/>
            <a:ext cx="10634472" cy="45720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062472"/>
            <a:ext cx="10634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Outcome metric shifts from training completion to on-ground usage — verified by citizen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T   E   A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Built by Team KPGU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10634472" cy="178308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10634472" cy="54864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212848"/>
            <a:ext cx="1051560" cy="105156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14016"/>
            <a:ext cx="1051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19456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F1E38"/>
                </a:solidFill>
                <a:latin typeface="Georgia"/>
              </a:rPr>
              <a:t>Rudra Khaire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8892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B2F52"/>
                </a:solidFill>
                <a:latin typeface="Calibri"/>
              </a:rPr>
              <a:t>CREATOR  &amp;  FULL-STACK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8211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B2F52"/>
                </a:solidFill>
                <a:latin typeface="Calibri"/>
              </a:rPr>
              <a:t>Concept, architecture, code and deployment — the entire platform, end to 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212848"/>
            <a:ext cx="2286000" cy="566928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3591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C9A961"/>
                </a:solidFill>
                <a:latin typeface="Calibri"/>
              </a:rPr>
              <a:t>★  BUILT THE ENTIRE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7639"/>
            <a:ext cx="2487168" cy="1783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39"/>
            <a:ext cx="248716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26464" y="4178807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26464" y="4379976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PJ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3095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1E38"/>
                </a:solidFill>
                <a:latin typeface="Georgia"/>
              </a:rPr>
              <a:t>Pratiksha Jawale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TEAM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1568" y="3977639"/>
            <a:ext cx="2487168" cy="1783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1568" y="3977639"/>
            <a:ext cx="248716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42232" y="4178807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2232" y="4379976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533095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1E38"/>
                </a:solidFill>
                <a:latin typeface="Georgia"/>
              </a:rPr>
              <a:t>Mahi Panchal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DESIGN &amp; RESEARCH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17336" y="3977639"/>
            <a:ext cx="2487168" cy="1783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17336" y="3977639"/>
            <a:ext cx="248716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0" y="4178807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379976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533095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1E38"/>
                </a:solidFill>
                <a:latin typeface="Georgia"/>
              </a:rPr>
              <a:t>Suhani Pawar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CONTENT &amp; CURRICULUM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33104" y="3977639"/>
            <a:ext cx="2487168" cy="1783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33104" y="3977639"/>
            <a:ext cx="248716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73768" y="4178807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3768" y="4379976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4" y="533095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1E38"/>
                </a:solidFill>
                <a:latin typeface="Georgia"/>
              </a:rPr>
              <a:t>Sheena Sharma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0264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ISL RESEARCH &amp; DOCUMENTATION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989320"/>
            <a:ext cx="10634472" cy="5029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05332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Dr. Kiran &amp; Pallavi Patel Global University  ·  B.Tech CSE  ·  2nd 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Georgia"/>
              </a:rPr>
              <a:t>धन्यवाद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47472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FFFFFF"/>
                </a:solidFill>
                <a:latin typeface="Georgia"/>
              </a:rPr>
              <a:t>“Sanket trains India’s government clerks in Indian Sign Language — three minutes a day, on any device — and verifies real impact through citizen feedback.”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920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LIVE DEMO   ·   https://sanketsahayaks1.vercel.app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492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TEAM KPGU  ·  KPGU UNIVERSITY  ·  “Sanket — where every sign gets a signal.”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