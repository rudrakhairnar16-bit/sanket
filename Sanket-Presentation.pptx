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1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280160" y="4754880"/>
            <a:ext cx="3840480" cy="3840480"/>
          </a:xfrm>
          <a:prstGeom prst="ellipse">
            <a:avLst/>
          </a:prstGeom>
          <a:solidFill>
            <a:srgbClr val="1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234440"/>
            <a:ext cx="10149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संकेत  |  SANKET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40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F97316"/>
                </a:solidFill>
                <a:latin typeface="Calibri"/>
              </a:rPr>
              <a:t>"Signal · Sign · Symbol"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" y="2926080"/>
            <a:ext cx="292608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Indian Sign Language for Sarkari Clerks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D5DFF9"/>
                </a:solidFill>
                <a:latin typeface="Calibri"/>
              </a:rPr>
              <a:t>From 30 days of training to 30 seconds of service.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FD0FA"/>
                </a:solidFill>
                <a:latin typeface="Calibri"/>
              </a:rPr>
              <a:t>Team KPGU  ·  KPGU University  ·  Inter-University Round  ·  Yuva 6.0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8064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BFD0FA"/>
                </a:solidFill>
                <a:latin typeface="Calibri"/>
              </a:rPr>
              <a:t>Sector: Public Services  ·  Problem: Indian Sign Language for 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280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97316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713232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BFD0FA"/>
                </a:solidFill>
                <a:latin typeface="Calibri"/>
              </a:rPr>
              <a:t>A deaf citizen walked into a sarkari office today. She waited. She left without her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3429000" cy="192024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82296" cy="19202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52704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3A8A"/>
                </a:solidFill>
                <a:latin typeface="Calibri"/>
              </a:rPr>
              <a:t>18M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6712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Hearing-impaired Indians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803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~2% of the population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417320"/>
            <a:ext cx="3429000" cy="192024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417320"/>
            <a:ext cx="82296" cy="19202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52704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3A8A"/>
                </a:solidFill>
                <a:latin typeface="Calibri"/>
              </a:rPr>
              <a:t>3.5M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16712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Govt clerks in municipal offices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8803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almost none know ISL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417320"/>
            <a:ext cx="3429000" cy="192024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417320"/>
            <a:ext cx="82296" cy="19202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1" y="152704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3A8A"/>
                </a:solidFill>
                <a:latin typeface="Calibri"/>
              </a:rPr>
              <a:t>≈0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1" y="216712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Ground-level ISL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1" y="28803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RPwD Act 2016 recognises ISL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03320"/>
            <a:ext cx="10744200" cy="21945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3192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E3A8A"/>
                </a:solidFill>
                <a:latin typeface="Calibri"/>
              </a:rPr>
              <a:t>Why the counter?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43484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▸ The municipal counter is the highest-traffic interface between government and deaf citizens.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▸ No interpreters on duty · writing on paper = slow, awkward, privacy-breaking.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▸ ASL school vocabulary doesn't cover "water bill", "certificate", "complaint".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▸ This is exclusion from basic civic services — a direct barrier to equality.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280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97316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30-Second Moment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713232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BFD0FA"/>
                </a:solidFill>
                <a:latin typeface="Calibri"/>
              </a:rPr>
              <a:t>Not a classroom. A deaf citizen getting served at the desk —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7319" y="1737360"/>
            <a:ext cx="822960" cy="8229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Citizen signs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Webcam recognises the sign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(or click a demo sign)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63040"/>
            <a:ext cx="2560320" cy="31089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06240" y="1737360"/>
            <a:ext cx="822960" cy="8229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874519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7432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Clerk sees &amp; hears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38328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Text + voice in EN/Hindi/Marathi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1463040"/>
            <a:ext cx="2560320" cy="31089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5159" y="1737360"/>
            <a:ext cx="822960" cy="8229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79" y="1874519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7432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Clerk replies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338328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One tap → ISL symbol chips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399" y="1463040"/>
            <a:ext cx="2560320" cy="31089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79" y="173736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399" y="1874519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27432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Citizen is 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79" y="338328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Signs + voice · full turn &lt; 30 sec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892040"/>
            <a:ext cx="10744200" cy="105156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138928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Sanket Sahayak — service at the desk, in under 30 seconds. That is the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280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97316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Solution: Three Pillars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713232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BFD0FA"/>
                </a:solidFill>
                <a:latin typeface="Calibri"/>
              </a:rPr>
              <a:t>One platform. Service, Habit, Governance.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3429000" cy="420624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3429000" cy="7772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69164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Sanket Sahayak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54203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97316"/>
                </a:solidFill>
                <a:latin typeface="Calibri"/>
              </a:rPr>
              <a:t>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926080"/>
            <a:ext cx="28803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1F2937"/>
                </a:solidFill>
                <a:latin typeface="Calibri"/>
              </a:rPr>
              <a:t>30-sec two-way desk: citizen signs → clerk gets text+voice → clerk replies → citizen gets ISL+voice. Human interpreter one tap away.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1554480"/>
            <a:ext cx="3429000" cy="420624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554480"/>
            <a:ext cx="3429000" cy="7772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169164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ISL 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54203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97316"/>
                </a:solidFill>
                <a:latin typeface="Calibri"/>
              </a:rPr>
              <a:t>HABIT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926080"/>
            <a:ext cx="28803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1F2937"/>
                </a:solidFill>
                <a:latin typeface="Calibri"/>
              </a:rPr>
              <a:t>3-minute daily lesson · streaks · badges · XP · webcam practice · 34 signs, 6 categories · spaced repetition.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554480"/>
            <a:ext cx="3429000" cy="420624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1554480"/>
            <a:ext cx="3429000" cy="777240"/>
          </a:xfrm>
          <a:prstGeom prst="rect">
            <a:avLst/>
          </a:prstGeom>
          <a:solidFill>
            <a:srgbClr val="1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69164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Admin Oversight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54203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97316"/>
                </a:solidFill>
                <a:latin typeface="Calibri"/>
              </a:rPr>
              <a:t>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926080"/>
            <a:ext cx="28803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1F2937"/>
                </a:solidFill>
                <a:latin typeface="Calibri"/>
              </a:rPr>
              <a:t>Sugamya Score · department leaderboards · QR citizen feedback loop · escalation tracking per office.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97880"/>
            <a:ext cx="10744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897880"/>
            <a:ext cx="10744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One product serves the citizen, builds the habit, and proves the outcome to the department.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280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97316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713232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BFD0FA"/>
                </a:solidFill>
                <a:latin typeface="Calibri"/>
              </a:rPr>
              <a:t>Watch the moment, not the slides.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5120640" cy="603504"/>
          </a:xfrm>
          <a:prstGeom prst="roundRect">
            <a:avLst>
              <a:gd name="adj" fmla="val 1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36192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97316"/>
                </a:solidFill>
                <a:latin typeface="Calibri"/>
              </a:rPr>
              <a:t>00:00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536192"/>
            <a:ext cx="37490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Calibri"/>
              </a:rPr>
              <a:t>Open /assist — app greets: "Namaste, I am Sanket Sahayak."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12848"/>
            <a:ext cx="5120640" cy="603504"/>
          </a:xfrm>
          <a:prstGeom prst="roundRect">
            <a:avLst>
              <a:gd name="adj" fmla="val 1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97316"/>
                </a:solidFill>
                <a:latin typeface="Calibri"/>
              </a:rPr>
              <a:t>00:15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286000"/>
            <a:ext cx="37490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Calibri"/>
              </a:rPr>
              <a:t>Citizen signs "Water" (webcam or demo click) → clerk desk.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62656"/>
            <a:ext cx="5120640" cy="603504"/>
          </a:xfrm>
          <a:prstGeom prst="roundRect">
            <a:avLst>
              <a:gd name="adj" fmla="val 1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35808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97316"/>
                </a:solidFill>
                <a:latin typeface="Calibri"/>
              </a:rPr>
              <a:t>00:30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035808"/>
            <a:ext cx="37490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Calibri"/>
              </a:rPr>
              <a:t>Clerk one-tap reply → ISL chips + voice to the citizen.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12464"/>
            <a:ext cx="5120640" cy="603504"/>
          </a:xfrm>
          <a:prstGeom prst="roundRect">
            <a:avLst>
              <a:gd name="adj" fmla="val 1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85616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97316"/>
                </a:solidFill>
                <a:latin typeface="Calibri"/>
              </a:rPr>
              <a:t>00:45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785616"/>
            <a:ext cx="37490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Calibri"/>
              </a:rPr>
              <a:t>Finish session → "You helped a citizen today  +25 XP".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46304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6916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97316"/>
                </a:solidFill>
                <a:latin typeface="Calibri"/>
              </a:rPr>
              <a:t>THE MOAT — escalation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2402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▸ Sign a low-confidence sign → tap  Call interpreter.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▸ ~1.6s later a live human clerk joins (WebSocket relay).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▸ Interpreter's message lands in the chat.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▸ End relay → "Escalation handled by a human" — logged.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4846320"/>
            <a:ext cx="5577840" cy="100584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502920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Other teams built a recognizer.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We built the routing.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280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97316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Moat: Human-in-the-Loop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713232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BFD0FA"/>
                </a:solidFill>
                <a:latin typeface="Calibri"/>
              </a:rPr>
              <a:t>Recognition is table stakes. Routing is the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5120640" cy="192024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6B7280"/>
                </a:solidFill>
                <a:latin typeface="Calibri"/>
              </a:rPr>
              <a:t>Others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6B7280"/>
                </a:solidFill>
                <a:latin typeface="Calibri"/>
              </a:rPr>
              <a:t>▸ Camera → sign → text. That's where it ends.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6B7280"/>
                </a:solidFill>
                <a:latin typeface="Calibri"/>
              </a:rPr>
              <a:t>▸ Their app dies the moment the model is wrong.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463040"/>
            <a:ext cx="5577840" cy="1920240"/>
          </a:xfrm>
          <a:prstGeom prst="roundRect">
            <a:avLst>
              <a:gd name="adj" fmla="val 9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6420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Sanket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488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Machine first → confidence drops → one tap calls a live human clerk.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Escalation logged → department trains against real failure 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136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We shipped a demo-grade recognizer on purpose — honestly, it's in our README. The moat is the certified content and the human escalation path, not the recognizer.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b="1" sz="1450">
                <a:solidFill>
                  <a:srgbClr val="1E3A8A"/>
                </a:solidFill>
                <a:latin typeface="Calibri"/>
              </a:rPr>
              <a:t>▸ Escalation is a feature, not a failure:  </a:t>
            </a:r>
            <a:r>
              <a:rPr sz="1450">
                <a:solidFill>
                  <a:srgbClr val="1F2937"/>
                </a:solidFill>
                <a:latin typeface="Calibri"/>
              </a:rPr>
              <a:t>10% of the Sugamya Score rewards "escalations handled" — the score rewards honesty.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b="1" sz="1450">
                <a:solidFill>
                  <a:srgbClr val="1E3A8A"/>
                </a:solidFill>
                <a:latin typeface="Calibri"/>
              </a:rPr>
              <a:t>▸ Closed loop:  </a:t>
            </a:r>
            <a:r>
              <a:rPr sz="1450">
                <a:solidFill>
                  <a:srgbClr val="1F2937"/>
                </a:solidFill>
                <a:latin typeface="Calibri"/>
              </a:rPr>
              <a:t>every escalation is logged, visible in the admin dashboard, counted in the department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280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97316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713232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BFD0FA"/>
                </a:solidFill>
                <a:latin typeface="Calibri"/>
              </a:rPr>
              <a:t>Honest, boring, reliable technology — on a 5-minute demo budget.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429000" cy="17373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82296" cy="17373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627632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Next.js 14 +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24028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Fast, type-safe, zero-config Vercel deploy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1463040"/>
            <a:ext cx="3429000" cy="17373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463040"/>
            <a:ext cx="82296" cy="17373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1627632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MediaPipe webcam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24028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21 hand landmarks, fully in-browser — no ML 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463040"/>
            <a:ext cx="3429000" cy="17373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1463040"/>
            <a:ext cx="82296" cy="17373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627632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kNN 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4028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Clerk trains their own signs in 60s; model lives in a JSON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429000"/>
            <a:ext cx="3429000" cy="17373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429000"/>
            <a:ext cx="82296" cy="1737360"/>
          </a:xfrm>
          <a:prstGeom prst="rect">
            <a:avLst/>
          </a:prstGeom>
          <a:solidFill>
            <a:srgbClr val="1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3593592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MongoDB Atlas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20624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Real learner &amp; leaderboard data in the cloud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59" y="3429000"/>
            <a:ext cx="3429000" cy="17373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59" y="3429000"/>
            <a:ext cx="82296" cy="1737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79" y="3593592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Socket.io relay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420624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Live human-interpreter matching over WebSocket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3429000"/>
            <a:ext cx="3429000" cy="17373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3429000"/>
            <a:ext cx="82296" cy="17373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3593592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PWA + mock fallback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20624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Offline-first · demo cannot crash — graceful degradation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77900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No new hardware: runs in Chrome on existing office PCs. Free-tier stack keeps the pilot cost at one laptop + one weekend.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280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97316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ISL Standardization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713232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BFD0FA"/>
                </a:solidFill>
                <a:latin typeface="Calibri"/>
              </a:rPr>
              <a:t>We don't fight ISL's diversity — we standardize the counter need.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27632"/>
            <a:ext cx="10424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34 signs, 6 categories = the highest-frequency requests at any municipal counter.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3429000" cy="713232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97480"/>
            <a:ext cx="3429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  Greetings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2697480"/>
            <a:ext cx="3429000" cy="713232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9" y="2697480"/>
            <a:ext cx="3429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Calibri"/>
              </a:rPr>
              <a:t>  Office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697480"/>
            <a:ext cx="3429000" cy="713232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697480"/>
            <a:ext cx="3429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Calibri"/>
              </a:rPr>
              <a:t>  Emergency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11880"/>
            <a:ext cx="3429000" cy="713232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3429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Calibri"/>
              </a:rPr>
              <a:t>  Daily Life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59" y="3611880"/>
            <a:ext cx="3429000" cy="713232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59" y="3611880"/>
            <a:ext cx="3429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Calibri"/>
              </a:rPr>
              <a:t>  Numbers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3611880"/>
            <a:ext cx="3429000" cy="713232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611880"/>
            <a:ext cx="3429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Calibri"/>
              </a:rPr>
              <a:t> 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177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sz="1400">
                <a:solidFill>
                  <a:srgbClr val="1E3A8A"/>
                </a:solidFill>
                <a:latin typeface="Calibri"/>
              </a:rPr>
              <a:t>▸ Content source:  </a:t>
            </a:r>
            <a:r>
              <a:rPr sz="1400">
                <a:solidFill>
                  <a:srgbClr val="1F2937"/>
                </a:solidFill>
                <a:latin typeface="Calibri"/>
              </a:rPr>
              <a:t>ISLRTC — Ministry of Social Justice &amp; Empowerment, the Government of India's recognised 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sz="1400">
                <a:solidFill>
                  <a:srgbClr val="1E3A8A"/>
                </a:solidFill>
                <a:latin typeface="Calibri"/>
              </a:rPr>
              <a:t>▸ Non-verbal fallback:  </a:t>
            </a:r>
            <a:r>
              <a:rPr sz="1400">
                <a:solidFill>
                  <a:srgbClr val="1F2937"/>
                </a:solidFill>
                <a:latin typeface="Calibri"/>
              </a:rPr>
              <a:t>icons + text + TTS alongside every sign — the citizen is never blocked on one handshape.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sz="1400">
                <a:solidFill>
                  <a:srgbClr val="1E3A8A"/>
                </a:solidFill>
                <a:latin typeface="Calibri"/>
              </a:rPr>
              <a:t>▸ Localized UI:  </a:t>
            </a:r>
            <a:r>
              <a:rPr sz="1400">
                <a:solidFill>
                  <a:srgbClr val="1F2937"/>
                </a:solidFill>
                <a:latin typeface="Calibri"/>
              </a:rPr>
              <a:t>English / Hindi / Marathi — vernacular is how offices actually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280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97316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Curriculum &amp;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713232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BFD0FA"/>
                </a:solidFill>
                <a:latin typeface="Calibri"/>
              </a:rPr>
              <a:t>The unit of engagement is 3 minutes, not a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429000" cy="301752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E3A8A"/>
                </a:solidFill>
                <a:latin typeface="Calibri"/>
              </a:rPr>
              <a:t>Daily lesson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▸ 3-minute lesson (1 video + 1 MCQ)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▸ 5 modules: Thank You, Please Wait, Sign Here, Water Bill, Submit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▸ Spaced repetition resurfaces weak answers 2–3 days later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▸ PDF certificates at 7/14/21/30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463040"/>
            <a:ext cx="3429000" cy="3017520"/>
          </a:xfrm>
          <a:prstGeom prst="roundRect">
            <a:avLst>
              <a:gd name="adj" fmla="val 9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916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Incentives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94560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▸ Streaks &amp; XP (+25 per assist)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▸ Department-vs-department leaderboards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▸ Badges · levels 1–20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▸ Champions: department-admin hierarchy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463040"/>
            <a:ext cx="3429000" cy="301752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6916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E3A8A"/>
                </a:solidFill>
                <a:latin typeface="Calibri"/>
              </a:rPr>
              <a:t>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194560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▸ Adoption per department tracked by admins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▸ QR citizen feedback loop: training → real-world impact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▸ Metric shifts from completion to on-ground usage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09160"/>
            <a:ext cx="10744200" cy="105156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937760"/>
            <a:ext cx="10149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 clerk who thinks a course is too long has no reason to skip a 30-second assist on their own counter.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280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97316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Sugamya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713232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BFD0FA"/>
                </a:solidFill>
                <a:latin typeface="Calibri"/>
              </a:rPr>
              <a:t>Proof of service — the score rewards honesty, not just completion.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5257800" cy="1600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1234440" cy="160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6459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121408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Training completed per department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1463040"/>
            <a:ext cx="5257800" cy="1600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79" y="1463040"/>
            <a:ext cx="1234440" cy="1600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1737360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19" y="16459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Citizen satisfaction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2121408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QR feedback from served citizens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91840"/>
            <a:ext cx="5257800" cy="1600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291840"/>
            <a:ext cx="1234440" cy="1600200"/>
          </a:xfrm>
          <a:prstGeom prst="rect">
            <a:avLst/>
          </a:prstGeom>
          <a:solidFill>
            <a:srgbClr val="1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66160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4747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Participation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950208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Active clerks / enrolled clerks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79" y="3291840"/>
            <a:ext cx="5257800" cy="1600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79" y="3291840"/>
            <a:ext cx="1234440" cy="1600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3566160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34747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Human safety 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19" y="3950208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Escalations handled — machine admitted it wasn't enough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257800"/>
            <a:ext cx="10744200" cy="86868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440680"/>
            <a:ext cx="10149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1E3A8A"/>
                </a:solidFill>
                <a:latin typeface="Calibri"/>
              </a:rPr>
              <a:t>Escalations appear live in the admin dashboard — the department sees machine failure as a number it can train against.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280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97316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Scalability: One Office to the 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713232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BFD0FA"/>
                </a:solidFill>
                <a:latin typeface="Calibri"/>
              </a:rPr>
              <a:t>Pilot first. Prove assists, not installs.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566160" cy="36576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97316"/>
                </a:solidFill>
                <a:latin typeface="Calibri"/>
              </a:rPr>
              <a:t>Phase 1 · Pilot (90 days)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▸ One taluka office, one talati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▸ Metric: assisted-citizen count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▸ One ISL-trained clerk becomes the local node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▸ Escalations = the pilot's learning signal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63040"/>
            <a:ext cx="3566160" cy="3657600"/>
          </a:xfrm>
          <a:prstGeom prst="roundRect">
            <a:avLst>
              <a:gd name="adj" fmla="val 9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916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Phase 2 · Scale (12 months)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945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▸ Circle → district → state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▸ Train-the-trainer (ASHA-worker model)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▸ Regional sign variants as module packs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▸ No new hardware — existing office PCs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63040"/>
            <a:ext cx="3566160" cy="36576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916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E3A8A"/>
                </a:solidFill>
                <a:latin typeface="Calibri"/>
              </a:rPr>
              <a:t>Phase 3 · National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945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▸ 6 Lakh counters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▸ District/state adoption heatmaps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▸ Rural: SMS-first, panchayat champions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▸ Cost = per-assist, not per-license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3212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Metric for every phase: assisted citizens per counter per month. Not sign-ups.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280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97316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Policy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713232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BFD0FA"/>
                </a:solidFill>
                <a:latin typeface="Calibri"/>
              </a:rPr>
              <a:t>Inclusive by law, not by charity.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5257800" cy="1600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82296" cy="160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66420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RPwD Act 2016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762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Legally recognises ISL as a language of instruction — departments have a compliance obligation. Sanket gives them the tool.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1463040"/>
            <a:ext cx="5257800" cy="1600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79" y="1463040"/>
            <a:ext cx="82296" cy="160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19" y="166420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ISLRTC Partnership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19" y="21762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Official content pipeline from the Ministry's recognised body — national standard ISL, with attribution.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91840"/>
            <a:ext cx="5257800" cy="1600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82296" cy="1600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9300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Deaf-Community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050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Every production sign reviewed by the community — accessibility built with, not for.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3291840"/>
            <a:ext cx="5257800" cy="1600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79" y="3291840"/>
            <a:ext cx="82296" cy="1600200"/>
          </a:xfrm>
          <a:prstGeom prst="rect">
            <a:avLst/>
          </a:prstGeom>
          <a:solidFill>
            <a:srgbClr val="1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19" y="349300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SMS / WhatsApp Nudge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19" y="40050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Clerks respond to mobile alerts — offline reach for Tier 2/3 and rural offices (Twilio is the honest next step).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0640"/>
            <a:ext cx="10744200" cy="86868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303520"/>
            <a:ext cx="10149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Partnerships: ISLRTC (content) + municipalities (pilot) + deaf community (validation).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280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97316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713232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BFD0FA"/>
                </a:solidFill>
                <a:latin typeface="Calibri"/>
              </a:rPr>
              <a:t>Shipped today. What's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0B981"/>
                </a:solidFill>
                <a:latin typeface="Calibri"/>
              </a:rPr>
              <a:t>✅ Shipped (this week)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▸ Sanket Sahayak desk flow (30-sec service)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▸ ISL Quest: 34 signs · streaks · badges · certificates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▸ kNN webcam training in 60 seconds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▸ Live human-interpreter relay (WebSocket)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▸ Sugamya Score with human safety net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▸ Deployed on Vercel — live at sanketsahayaks1.vercel.app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63040"/>
            <a:ext cx="5349240" cy="448056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97316"/>
                </a:solidFill>
                <a:latin typeface="Calibri"/>
              </a:rPr>
              <a:t>🚀 Next (30–90 days)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402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Gesture-specific ML model (production-grade)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Real ISLRTC video clips in every lesson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WhatsApp/SMS nudge via Twilio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Mobile grid + app-store packaging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Regional sign-variant module packs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Pilot: one taluka office, 90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6035040"/>
            <a:ext cx="10744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053328"/>
            <a:ext cx="10744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1E3A8A"/>
                </a:solidFill>
                <a:latin typeface="Calibri"/>
              </a:rPr>
              <a:t>Outcome metric shifts from training completion to on-ground usage (citizen feedback).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4389120"/>
            <a:ext cx="4572000" cy="4572000"/>
          </a:xfrm>
          <a:prstGeom prst="ellipse">
            <a:avLst/>
          </a:prstGeom>
          <a:solidFill>
            <a:srgbClr val="16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धन्यवाद  |  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5146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D5DFF9"/>
                </a:solidFill>
                <a:latin typeface="Calibri"/>
              </a:rPr>
              <a:t>"Sanket trains India's 3.5 million government clerks in Indian Sign Language — 3 minutes a day, on any device — then verifies real impact through citizen feedback."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" y="3566160"/>
            <a:ext cx="274320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97316"/>
                </a:solidFill>
                <a:latin typeface="Calibri"/>
              </a:rPr>
              <a:t>Live demo: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https://sanketsahayaks1.vercel.app  ·  repo: github.com/rudrakhairnar16-bit/sanket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BFD0FA"/>
                </a:solidFill>
                <a:latin typeface="Calibri"/>
              </a:rPr>
              <a:t>Team KPGU  ·  KPGU University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BFD0FA"/>
                </a:solidFill>
                <a:latin typeface="Calibri"/>
              </a:rPr>
              <a:t>"Sanket — where every sign gets a signal."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