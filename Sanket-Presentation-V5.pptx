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0F1E38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784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C9A961"/>
                </a:solidFill>
                <a:latin typeface="Calibri"/>
              </a:rPr>
              <a:t>Y   U   V   A     6   .   0     ·     I   N   T   E   R   -   U   N   I   V   E   R   S   I   T   Y     R   O   U   N   D     ·     P   U   B   L   I   C     S   E   R   V   I   C   E  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5544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PROBLEM STATEMENT: INDIAN SIGN LANGUAGE FOR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331720"/>
            <a:ext cx="9875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0" b="1" i="0">
                <a:solidFill>
                  <a:srgbClr val="FFFFFF"/>
                </a:solidFill>
                <a:latin typeface="Georgia"/>
              </a:rPr>
              <a:t>SANKET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 i="1">
                <a:solidFill>
                  <a:srgbClr val="C9A961"/>
                </a:solidFill>
                <a:latin typeface="Georgia"/>
              </a:rPr>
              <a:t>Indian Sign Language for Sarkari Clerks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480560"/>
            <a:ext cx="2377440" cy="228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47091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FFFFFF"/>
                </a:solidFill>
                <a:latin typeface="Georgia"/>
              </a:rPr>
              <a:t>“From 30 days of training to 30 seconds of service.”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5486400"/>
            <a:ext cx="9784080" cy="10972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56235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TEAM BEYOND WORDS  ·  KPGU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9436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9A961"/>
                </a:solidFill>
                <a:latin typeface="Calibri"/>
              </a:rPr>
              <a:t>Sector: Public Services  ·  Audience: Government (Sarkari) Clerks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P   R   O   B   L   E  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The silence at the sarkari 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1">
                <a:solidFill>
                  <a:srgbClr val="38414D"/>
                </a:solidFill>
                <a:latin typeface="Georgia"/>
              </a:rPr>
              <a:t>A deaf citizen walks into a municipal office. No clerk knows Indian Sign Language. No interpreter is on duty. She waits. She leaves without her answer.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26080"/>
            <a:ext cx="3383280" cy="19202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791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12724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63M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86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Indians with significant hearing impairment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WHO (2001 estimates, still cited 2024)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2926080"/>
            <a:ext cx="3383280" cy="19202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15968" y="4791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312724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886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of deaf children are in school at 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27939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Deafness in India — national estimates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2926080"/>
            <a:ext cx="3383280" cy="19202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46136" y="4791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0456" y="312724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26%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886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of working-age deaf adults are employed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427939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Census 2011 — 73.9% are marginal workers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166360"/>
            <a:ext cx="10634472" cy="9601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1">
                <a:solidFill>
                  <a:srgbClr val="0F1E38"/>
                </a:solidFill>
                <a:latin typeface="Georgia"/>
              </a:rPr>
              <a:t>The Rights of Persons with Disabilities Act, 2016 recognises ISL as a language of instruction — yet at the counter where government meets citizens, integration is effectively zero.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Sources: WHO deafness estimates · Census of India 2011 · National Association of the Deaf · RPwD Act, 2016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F   R   O   N   T       L   I   N  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Ten million public servants, one untrained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60273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02996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0F1E38"/>
                </a:solidFill>
                <a:latin typeface="Georgia"/>
              </a:rPr>
              <a:t>3.2M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889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Central Government 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9067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Annual Report on Pay &amp; Allowances, MoF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5968" y="360273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202996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0F1E38"/>
                </a:solidFill>
                <a:latin typeface="Georgia"/>
              </a:rPr>
              <a:t>7.3M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889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State Government employees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09067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State employment statistics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6136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46136" y="360273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0456" y="202996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≈0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7889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offices with an ISL-ready clerk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09067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No national ISL provision at municipal desks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977639"/>
            <a:ext cx="10634472" cy="20116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4206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Why the municipal counter?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091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38414D"/>
                </a:solidFill>
                <a:latin typeface="Calibri"/>
              </a:rPr>
              <a:t>—  The counter is the highest-traffic interface between government and deaf citizens.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38414D"/>
                </a:solidFill>
                <a:latin typeface="Calibri"/>
              </a:rPr>
              <a:t>—  School ASL vocabulary does not cover “water bill”, “certificate”, or “complaint”.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38414D"/>
                </a:solidFill>
                <a:latin typeface="Calibri"/>
              </a:rPr>
              <a:t>—  Paper-and-sign communication is slow, awkward, and privacy-breaking.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1792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Sources: Ministry of Finance · Union Government employees statistics (2023)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P   R   O   D   U   C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Service in thirty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Citizen signs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Webcam reads the sign, or a demo sign is tapped.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0712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66744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66744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Clerk sees and hears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Text plus voice, in English, Hindi or Marathi.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5624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91656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91656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Clerk replies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One tap renders the reply as ISL symbol chips.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0536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16567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16567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6567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Citizen is 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The full turn completes in under 30 seconds.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349240"/>
            <a:ext cx="10634472" cy="8686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555955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SANKET SAHAYAK — service at the desk. That moment, live, is the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S   O   L   U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One platform. Service, habit, governance.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1945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Sanket Sahayak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B98A2F"/>
                </a:solidFill>
                <a:latin typeface="Calibri"/>
              </a:rPr>
              <a:t>S E R V I C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A two-way desk: the citizen signs, the clerk understands, the clerk replies in ISL. A human interpreter is one tap away.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828800"/>
            <a:ext cx="33832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25112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2" y="2148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21945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ISL 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B98A2F"/>
                </a:solidFill>
                <a:latin typeface="Calibri"/>
              </a:rPr>
              <a:t>H A B I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1546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A three-minute daily lesson, streaks, badges and webcam practice — 34 signs across 6 categories, with spaced repetition.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4424" y="1828800"/>
            <a:ext cx="33832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64424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38744" y="2148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4" y="21945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Admin Oversight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B98A2F"/>
                </a:solidFill>
                <a:latin typeface="Calibri"/>
              </a:rPr>
              <a:t>G O V E R N A N C 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1546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The Sugamya Score, department leaderboards and QR citizen feedback prove the service actually happened.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035040"/>
            <a:ext cx="10634472" cy="4572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6089904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One product serves the citizen, builds the habit, and proves the outcome to the department.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L   I   V   E       D   E   M  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Watch the moment, not the slides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02536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984248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Open Sanket Sahayak — the app greets: “Namaste, I am Sanket Sahayak.”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15768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843784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825496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The citizen signs “Water” (webcam or demo tap) — the clerk desk receives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57015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685031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666744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The clerk replies in one tap — ISL chips and voice reach the citizen.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98264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507992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Finish — “You helped a citizen today. +25 XP.” Service proven.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874519"/>
            <a:ext cx="5148072" cy="30175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21488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9A961"/>
                </a:solidFill>
                <a:latin typeface="Calibri"/>
              </a:rPr>
              <a:t>THE MOAT — ESCALATION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743200"/>
            <a:ext cx="4617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Sign with low confidence → tap “Call interpreter”.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A live human clerk joins within ~1.6 seconds.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The interpreter’s message lands in the chat.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End relay → “Escalation handled by a human” — logged.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5074920"/>
            <a:ext cx="5148072" cy="914400"/>
          </a:xfrm>
          <a:prstGeom prst="rect">
            <a:avLst/>
          </a:prstGeom>
          <a:solidFill>
            <a:srgbClr val="F2EFE7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5285232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1">
                <a:solidFill>
                  <a:srgbClr val="0F1E38"/>
                </a:solidFill>
                <a:latin typeface="Georgia"/>
              </a:rPr>
              <a:t>“Other teams built a recognizer. We built the routing.”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M   O   A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6196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 dirty="0">
                <a:solidFill>
                  <a:srgbClr val="0F1E38"/>
                </a:solidFill>
                <a:latin typeface="Georgia"/>
              </a:rPr>
              <a:t>Recognition is table stakes. Routing is the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212080" cy="21031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7A8494"/>
                </a:solidFill>
                <a:latin typeface="Georgia"/>
              </a:rPr>
              <a:t>What others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7A8494"/>
                </a:solidFill>
                <a:latin typeface="Calibri"/>
              </a:rPr>
              <a:t>—  Camera sees a sign → screen shows text. It ends there.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7A8494"/>
                </a:solidFill>
                <a:latin typeface="Calibri"/>
              </a:rPr>
              <a:t>—  The service dies the moment the model is wrong.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828800"/>
            <a:ext cx="5212080" cy="21031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What Sanket builds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6060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—  Machine first → confidence drops → one tap calls a live human clerk.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—  Escalation is logged and counted — the department trains against real failure.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06240"/>
            <a:ext cx="10634472" cy="10515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1">
                <a:solidFill>
                  <a:srgbClr val="0F1E38"/>
                </a:solidFill>
                <a:latin typeface="Georgia"/>
              </a:rPr>
              <a:t>We shipped a demo-grade recognizer on purpose — it is in our README. The moat is the certified content and the human escalation path, not the recognizer.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86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B98A2F"/>
                </a:solidFill>
                <a:latin typeface="Calibri"/>
              </a:rPr>
              <a:t>—  Escalation is a feature:  </a:t>
            </a:r>
            <a:r>
              <a:rPr sz="1300">
                <a:solidFill>
                  <a:srgbClr val="38414D"/>
                </a:solidFill>
                <a:latin typeface="Calibri"/>
              </a:rPr>
              <a:t>10% of the Sugamya Score rewards “escalations handled” — the score rewards honesty.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B98A2F"/>
                </a:solidFill>
                <a:latin typeface="Calibri"/>
              </a:rPr>
              <a:t>—  Closed loop:  </a:t>
            </a:r>
            <a:r>
              <a:rPr sz="1300">
                <a:solidFill>
                  <a:srgbClr val="38414D"/>
                </a:solidFill>
                <a:latin typeface="Calibri"/>
              </a:rPr>
              <a:t>every escalation is logged, visible in the admin dashboard, counted in the department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H   O   W       I   T       W   O   R   K  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64789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 dirty="0">
                <a:solidFill>
                  <a:srgbClr val="0F1E38"/>
                </a:solidFill>
                <a:latin typeface="Georgia"/>
              </a:rPr>
              <a:t>Boring, reliable technology — on a five-minute demo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0299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5146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Next.js 14 ·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Type-safe, zero-config deploy on Vercel.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1144" y="20299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5146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MediaPipe webcam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21 hand landmarks, fully in-browser — no ML server.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4424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0456" y="20299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5146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kNN 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A clerk trains their own signs in 60 seconds; the model is a JSON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8862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40873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572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MongoDB Atlas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0749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Real learner and leaderboard data in the cloud.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5112" y="38862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81144" y="40873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572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Socket.io relay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50749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Live human-interpreter matching over WebSocket.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64424" y="38862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0456" y="40873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4572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PWA · mock 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50749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Offline-first — the demo cannot crash, by design.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035040"/>
            <a:ext cx="10634472" cy="4572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6099048"/>
            <a:ext cx="10149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No new hardware: it runs in Chrome on existing office PCs. A free-tier stack keeps the pilot at one laptop and one weekend.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I   S   L       S   T   A   N   D   A   R   D   I   Z   A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We do not fight ISL’s diversity — we standardize the counter 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10634472" cy="77724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34 signs across 6 categories cover the highest-frequency requests at any municipal counter.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8036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99008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Greetings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288036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299008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Office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4424" y="288036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299008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Emergency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767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Daily Life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5112" y="365760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9432" y="3767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Numbers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4424" y="365760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38744" y="3767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091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SOURCE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70916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ISLRTC — the autonomous national institute under DEPwD, Ministry of Social Justice &amp; Empowerment.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30952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ESTABLISHED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33095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28 September 2015 · ISL Dictionary launched 2018 · ISLRTC–NCERT MoU 2020.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52744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BEYOND THE HANDSHAPE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952744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Icons, text and TTS sit beside every sign — the citizen is never blocked on one gesture.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Source: islrtc.nic.in — Government of India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C   U   R   R   I   C   U   L   U   M       &amp;       A   D   O   P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The unit of engagement is three minutes, not a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33832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D A I L Y   L O O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3-minute lesson — one video, one MCQ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5 modules: Thank You · Please Wait · Sign Here · Water Bill · Submit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Spaced repetition resurfaces weak answers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383280" cy="33832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5112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I N C E N T I V E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Streaks and XP — +25 per assist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Department-vs-department leaderboards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PDF certificates at 7 / 14 / 21 / 30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4424" y="1828800"/>
            <a:ext cx="3383280" cy="33832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64424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38744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O U T C O M E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Admin dashboards track adoption per department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QR citizen feedback: training → real impact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Metric shifts to on-ground usage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486400"/>
            <a:ext cx="10634472" cy="8686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6692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1">
                <a:solidFill>
                  <a:srgbClr val="FFFFFF"/>
                </a:solidFill>
                <a:latin typeface="Georgia"/>
              </a:rPr>
              <a:t>A clerk who thinks a course is too long has no reason to skip a thirty-second assist on their own counter.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M   E   A   S   U   R   I   N   G       I   M   P   A   C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The Sugamya Score — the score rewards honesty, not just completion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73152" cy="15544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20574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E38"/>
                </a:solidFill>
                <a:latin typeface="Georgia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0574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51460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Training completed per department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828800"/>
            <a:ext cx="73152" cy="155448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20574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0574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Citizen 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51460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QR feedback from served citizens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61188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611880"/>
            <a:ext cx="73152" cy="1554480"/>
          </a:xfrm>
          <a:prstGeom prst="rect">
            <a:avLst/>
          </a:prstGeom>
          <a:solidFill>
            <a:srgbClr val="1B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" y="384048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2F52"/>
                </a:solidFill>
                <a:latin typeface="Georgia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8404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Participation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29768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Active clerks / enrolled clerks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61188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611880"/>
            <a:ext cx="73152" cy="1554480"/>
          </a:xfrm>
          <a:prstGeom prst="rect">
            <a:avLst/>
          </a:prstGeom>
          <a:solidFill>
            <a:srgbClr val="2E7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64808" y="384048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2E7D59"/>
                </a:solidFill>
                <a:latin typeface="Georgia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8404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Human safety 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29768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Escalations handled — the machine admitted it wasn’t enough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532120"/>
            <a:ext cx="10634472" cy="7315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7150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1">
                <a:solidFill>
                  <a:srgbClr val="0F1E38"/>
                </a:solidFill>
                <a:latin typeface="Georgia"/>
              </a:rPr>
              <a:t>Escalations appear live in the admin dashboard — the department sees machine failure as a number it can train against.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S   C   A   L   A   B   I   L   I   T  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One office to the nation — prove assists, not installs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3657600"/>
          </a:xfrm>
          <a:prstGeom prst="rect">
            <a:avLst/>
          </a:prstGeom>
          <a:solidFill>
            <a:srgbClr val="0F1E38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9A961"/>
                </a:solidFill>
                <a:latin typeface="Calibri"/>
              </a:rPr>
              <a:t>P H A S E   1   ·   P I L O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718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One taluka office, one talati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Metric: assisted-citizen count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One ISL-trained clerk becomes the local node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Escalations are the pilot’s learning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383280" cy="3657600"/>
          </a:xfrm>
          <a:prstGeom prst="rect">
            <a:avLst/>
          </a:prstGeom>
          <a:solidFill>
            <a:srgbClr val="1B2F52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9A961"/>
                </a:solidFill>
                <a:latin typeface="Calibri"/>
              </a:rPr>
              <a:t>P H A S E   2   ·   S C A L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48716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12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9718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Circle → district → state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Train-the-trainer — the ASHA-worker model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Regional sign variants as module packs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No new hardware — existing office PCs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4424" y="1828800"/>
            <a:ext cx="3383280" cy="36576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P H A S E   3   ·   N A T I O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48716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98A2F"/>
                </a:solidFill>
                <a:latin typeface="Calibri"/>
              </a:rPr>
              <a:t>LONG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9718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Six lakh counters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District and state adoption heatmaps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Rural: SMS-first, panchayat champions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Cost per assist, not per licence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760720"/>
            <a:ext cx="10634472" cy="54864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870448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metric for every phase: assisted citizens per counter per month. Not sign-ups.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P   O   L   I   C   Y       I   N   T   E   G   R   A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Inclusive by law, not by charity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73152" cy="173736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RPwD Act, 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7860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Expanded recognised disabilities from 7 to 21 and raised PwD reservation in government jobs from 3% to 4%. ISL is protected and promoted as a language — departments now carry a compliance duty.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1737360"/>
          </a:xfrm>
          <a:prstGeom prst="rect">
            <a:avLst/>
          </a:prstGeom>
          <a:solidFill>
            <a:srgbClr val="1B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ISLRTC partnership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7860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Official content pipeline from the Ministry’s recognised institute, with attribution — national standard ISL, not an app’s private vocabulary.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79476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794760"/>
            <a:ext cx="73152" cy="17373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023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Deaf-community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4456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Every production sign is reviewed by the community. Accessibility is built with, not for.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79476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794760"/>
            <a:ext cx="73152" cy="1737360"/>
          </a:xfrm>
          <a:prstGeom prst="rect">
            <a:avLst/>
          </a:prstGeom>
          <a:solidFill>
            <a:srgbClr val="2E7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SMS / WhatsApp nudge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4456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Clerks respond to mobile alerts — offline reach for Tier 2/3 and rural offices. Twilio is the honest next step.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12648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Sources: RPwD Act, 2016 (notified 28 December 2016) · DEPwD, Ministry of Social Justice &amp; Empowerment · India ratified UNCRPD October 2007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R   O   A   D   M   A  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Shipped this week. What comes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2120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2E7D59"/>
                </a:solidFill>
                <a:latin typeface="Calibri"/>
              </a:rPr>
              <a:t>S   H   I   P   P   E   D     ·     T   H   I   S     W   E   E  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Sanket Sahayak — the 30-second desk flow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ISL Quest — 34 signs, streaks, badges, certificates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kNN webcam training in 60 seconds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Live human-interpreter relay over WebSocket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Sugamya Score with the human safety net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Deployed — live at sanketsahayaks1.vercel.app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828800"/>
            <a:ext cx="5212080" cy="39319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21031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9A961"/>
                </a:solidFill>
                <a:latin typeface="Calibri"/>
              </a:rPr>
              <a:t>N   E   X   T     ·     3   0   –   9   0     D   A   Y  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60604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Gesture-specific ML model — production grade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Real ISLRTC video clips in every lesson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WhatsApp / SMS nudge via Twilio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Mobile grid and app-store packaging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Regional sign-variant module packs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Pilot: one taluka office, 90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989320"/>
            <a:ext cx="10634472" cy="457200"/>
          </a:xfrm>
          <a:prstGeom prst="rect">
            <a:avLst/>
          </a:prstGeom>
          <a:solidFill>
            <a:srgbClr val="1B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062472"/>
            <a:ext cx="10634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Outcome metric shifts from training completion to on-ground usage — verified by citizen feedback.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T   E   A  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Beyond Words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1938528" cy="27432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103120"/>
            <a:ext cx="193852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52144" y="2423160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2144" y="2624327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1E38"/>
                </a:solidFill>
                <a:latin typeface="Georgia"/>
              </a:rPr>
              <a:t>Rudra Khaire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FULL-STACK DEVELOPER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43784" y="2103120"/>
            <a:ext cx="1938528" cy="27432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43784" y="2103120"/>
            <a:ext cx="193852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310128" y="2423160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10128" y="2624327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PJ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3657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1E38"/>
                </a:solidFill>
                <a:latin typeface="Georgia"/>
              </a:rPr>
              <a:t>Pratiksha Jawale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5224" y="434340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TEAM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1768" y="2103120"/>
            <a:ext cx="1938528" cy="27432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01768" y="2103120"/>
            <a:ext cx="193852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468112" y="2423160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68112" y="2624327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7" y="3657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1E38"/>
                </a:solidFill>
                <a:latin typeface="Georgia"/>
              </a:rPr>
              <a:t>Mahi Panchal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3207" y="434340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DESIGN &amp; RESEARCH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9752" y="2103120"/>
            <a:ext cx="1938528" cy="27432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59752" y="2103120"/>
            <a:ext cx="193852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626096" y="2423160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26096" y="2624327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SP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3657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1E38"/>
                </a:solidFill>
                <a:latin typeface="Georgia"/>
              </a:rPr>
              <a:t>Suhani Pawar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434340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CONTENT &amp; CURRICULUM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17736" y="2103120"/>
            <a:ext cx="1938528" cy="27432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317736" y="2103120"/>
            <a:ext cx="193852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784080" y="2423160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84080" y="2624327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9176" y="3657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1E38"/>
                </a:solidFill>
                <a:latin typeface="Georgia"/>
              </a:rPr>
              <a:t>Sheena Sharma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9176" y="434340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ISL RESEARCH &amp; DOCUMENTATION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257800"/>
            <a:ext cx="10634472" cy="7315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4864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Dr. Kiran &amp; Pallavi Patel Global University  ·  B.Tech CSE  ·  2nd Year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8978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C9A961"/>
                </a:solidFill>
                <a:latin typeface="Georgia"/>
              </a:rPr>
              <a:t>“Sanket — where every sign gets a signal.”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0F1E38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Georgia"/>
              </a:rPr>
              <a:t>धन्यवाद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 i="1">
                <a:solidFill>
                  <a:srgbClr val="C9A961"/>
                </a:solidFill>
                <a:latin typeface="Georgia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474720"/>
            <a:ext cx="2377440" cy="228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1">
                <a:solidFill>
                  <a:srgbClr val="FFFFFF"/>
                </a:solidFill>
                <a:latin typeface="Georgia"/>
              </a:rPr>
              <a:t>“Sanket trains India’s government clerks in Indian Sign Language — three minutes a day, on any device — and verifies real impact through citizen feedback.”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9204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9A961"/>
                </a:solidFill>
                <a:latin typeface="Calibri"/>
              </a:rPr>
              <a:t>LIVE DEMO   ·   https://sanketsahayaks1.vercel.app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4924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TEAM BEYOND WORDS  ·  KPGU UNIVERSITY  ·  “Sanket — where every sign gets a signal.”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2094</Words>
  <Application>Microsoft Office PowerPoint</Application>
  <PresentationFormat>Widescreen</PresentationFormat>
  <Paragraphs>262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Ronit Mograni</cp:lastModifiedBy>
  <cp:revision>2</cp:revision>
  <dcterms:created xsi:type="dcterms:W3CDTF">2013-01-27T09:14:16Z</dcterms:created>
  <dcterms:modified xsi:type="dcterms:W3CDTF">2026-08-16T09:57:22Z</dcterms:modified>
  <cp:category/>
</cp:coreProperties>
</file>